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4" r:id="rId6"/>
    <p:sldId id="267" r:id="rId7"/>
    <p:sldId id="266" r:id="rId8"/>
    <p:sldId id="259" r:id="rId9"/>
    <p:sldId id="271" r:id="rId10"/>
    <p:sldId id="270" r:id="rId11"/>
    <p:sldId id="269" r:id="rId12"/>
    <p:sldId id="268" r:id="rId13"/>
    <p:sldId id="272" r:id="rId14"/>
    <p:sldId id="273" r:id="rId15"/>
    <p:sldId id="274" r:id="rId16"/>
    <p:sldId id="277" r:id="rId17"/>
    <p:sldId id="276" r:id="rId18"/>
    <p:sldId id="275" r:id="rId19"/>
    <p:sldId id="278" r:id="rId20"/>
    <p:sldId id="260" r:id="rId21"/>
    <p:sldId id="281" r:id="rId22"/>
    <p:sldId id="288" r:id="rId23"/>
    <p:sldId id="287" r:id="rId24"/>
    <p:sldId id="286" r:id="rId25"/>
    <p:sldId id="285" r:id="rId26"/>
    <p:sldId id="284" r:id="rId27"/>
    <p:sldId id="283" r:id="rId28"/>
    <p:sldId id="289" r:id="rId29"/>
    <p:sldId id="282" r:id="rId30"/>
    <p:sldId id="302" r:id="rId31"/>
    <p:sldId id="294" r:id="rId32"/>
    <p:sldId id="292" r:id="rId33"/>
    <p:sldId id="291" r:id="rId34"/>
    <p:sldId id="290" r:id="rId35"/>
    <p:sldId id="296" r:id="rId36"/>
    <p:sldId id="340" r:id="rId37"/>
    <p:sldId id="341" r:id="rId38"/>
    <p:sldId id="297" r:id="rId39"/>
    <p:sldId id="336" r:id="rId40"/>
    <p:sldId id="335" r:id="rId41"/>
    <p:sldId id="334" r:id="rId42"/>
    <p:sldId id="333" r:id="rId43"/>
    <p:sldId id="332" r:id="rId44"/>
    <p:sldId id="337" r:id="rId45"/>
    <p:sldId id="338" r:id="rId46"/>
    <p:sldId id="339" r:id="rId47"/>
    <p:sldId id="344" r:id="rId48"/>
    <p:sldId id="360" r:id="rId49"/>
    <p:sldId id="343" r:id="rId50"/>
    <p:sldId id="345" r:id="rId51"/>
    <p:sldId id="346" r:id="rId52"/>
    <p:sldId id="348" r:id="rId53"/>
    <p:sldId id="354" r:id="rId54"/>
    <p:sldId id="353" r:id="rId55"/>
    <p:sldId id="352" r:id="rId56"/>
    <p:sldId id="351" r:id="rId57"/>
    <p:sldId id="350" r:id="rId58"/>
    <p:sldId id="349" r:id="rId59"/>
    <p:sldId id="357" r:id="rId60"/>
    <p:sldId id="356" r:id="rId61"/>
    <p:sldId id="355" r:id="rId62"/>
    <p:sldId id="359" r:id="rId63"/>
    <p:sldId id="361" r:id="rId64"/>
    <p:sldId id="303" r:id="rId65"/>
    <p:sldId id="306" r:id="rId66"/>
    <p:sldId id="305" r:id="rId67"/>
    <p:sldId id="304" r:id="rId68"/>
    <p:sldId id="307" r:id="rId69"/>
    <p:sldId id="309" r:id="rId70"/>
    <p:sldId id="308" r:id="rId71"/>
    <p:sldId id="312" r:id="rId72"/>
    <p:sldId id="313" r:id="rId73"/>
    <p:sldId id="311" r:id="rId74"/>
    <p:sldId id="310" r:id="rId75"/>
    <p:sldId id="314" r:id="rId76"/>
    <p:sldId id="319" r:id="rId77"/>
    <p:sldId id="318" r:id="rId78"/>
    <p:sldId id="317" r:id="rId79"/>
    <p:sldId id="316" r:id="rId80"/>
    <p:sldId id="315" r:id="rId81"/>
    <p:sldId id="320" r:id="rId82"/>
    <p:sldId id="321" r:id="rId83"/>
    <p:sldId id="362" r:id="rId84"/>
    <p:sldId id="323" r:id="rId85"/>
    <p:sldId id="322" r:id="rId86"/>
    <p:sldId id="324" r:id="rId87"/>
    <p:sldId id="330" r:id="rId88"/>
    <p:sldId id="329" r:id="rId89"/>
    <p:sldId id="328" r:id="rId90"/>
    <p:sldId id="327" r:id="rId91"/>
    <p:sldId id="261" r:id="rId92"/>
    <p:sldId id="262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0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83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70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1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9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1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0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5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7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3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7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0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84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3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13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5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F73A28-6836-42D5-A0C5-8B23F9540210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9316FA8-1F33-47B4-9D65-74C0CC106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9831-212C-B128-D50C-7025483D3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1767" y="1204016"/>
            <a:ext cx="5466736" cy="1023425"/>
          </a:xfrm>
        </p:spPr>
        <p:txBody>
          <a:bodyPr>
            <a:normAutofit fontScale="90000"/>
          </a:bodyPr>
          <a:lstStyle/>
          <a:p>
            <a:r>
              <a:rPr lang="en-AE" sz="4400" b="1" kern="100" cap="all" dirty="0">
                <a:solidFill>
                  <a:srgbClr val="156082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Capstone Project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79CB10-76C1-7AEE-F4A9-11E59BF2C1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28438" y="2433573"/>
            <a:ext cx="577016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HR Analytics about Employee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Turnover and its prediction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8A25E-4836-94B4-D434-A7FC0373240F}"/>
              </a:ext>
            </a:extLst>
          </p:cNvPr>
          <p:cNvSpPr txBox="1"/>
          <p:nvPr/>
        </p:nvSpPr>
        <p:spPr>
          <a:xfrm>
            <a:off x="6292644" y="5142271"/>
            <a:ext cx="577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Omar A. Shakir Al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Faiadh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201735167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A4742-9AF3-FFDB-7306-B16221B383BF}"/>
              </a:ext>
            </a:extLst>
          </p:cNvPr>
          <p:cNvSpPr txBox="1"/>
          <p:nvPr/>
        </p:nvSpPr>
        <p:spPr>
          <a:xfrm>
            <a:off x="4371121" y="5280770"/>
            <a:ext cx="2806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Advisor : Dr. Subhadip Pal</a:t>
            </a:r>
          </a:p>
        </p:txBody>
      </p:sp>
    </p:spTree>
    <p:extLst>
      <p:ext uri="{BB962C8B-B14F-4D97-AF65-F5344CB8AC3E}">
        <p14:creationId xmlns:p14="http://schemas.microsoft.com/office/powerpoint/2010/main" val="3803490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3A44-ADCF-CC1F-0B85-64382BEC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29829"/>
            <a:ext cx="10018713" cy="1752599"/>
          </a:xfrm>
        </p:spPr>
        <p:txBody>
          <a:bodyPr>
            <a:normAutofit/>
          </a:bodyPr>
          <a:lstStyle/>
          <a:p>
            <a:r>
              <a:rPr lang="en-AE" sz="4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Contents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16CB-E293-E920-44A1-0592BBF82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600" y="2627670"/>
            <a:ext cx="10018713" cy="3124201"/>
          </a:xfrm>
        </p:spPr>
        <p:txBody>
          <a:bodyPr>
            <a:normAutofit fontScale="62500" lnSpcReduction="20000"/>
          </a:bodyPr>
          <a:lstStyle/>
          <a:p>
            <a:r>
              <a:rPr lang="en-US" sz="3600" b="1" kern="0" dirty="0">
                <a:solidFill>
                  <a:srgbClr val="24242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Chapter 1: Introduction.</a:t>
            </a:r>
            <a:endParaRPr lang="en-US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3600" b="1" kern="0" dirty="0">
                <a:solidFill>
                  <a:srgbClr val="24242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Chapter 2: Literature Review.</a:t>
            </a:r>
          </a:p>
          <a:p>
            <a:r>
              <a:rPr lang="en-AE" sz="3600" b="1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AE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hapter 3: About Data and Data exploration.</a:t>
            </a:r>
          </a:p>
          <a:p>
            <a:r>
              <a:rPr lang="en-US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Chapter 4: Methodology.</a:t>
            </a:r>
          </a:p>
          <a:p>
            <a:r>
              <a:rPr lang="en-AE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Chapter 5: </a:t>
            </a:r>
            <a:r>
              <a:rPr lang="en-US" sz="36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Models and Results.</a:t>
            </a:r>
            <a:endParaRPr lang="en-AE" sz="36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AE" sz="3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Chapter 6: </a:t>
            </a:r>
            <a:r>
              <a:rPr lang="en-US" sz="3600" b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Conclusion.</a:t>
            </a:r>
            <a:endParaRPr lang="en-AE" sz="36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AE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References.</a:t>
            </a:r>
            <a:endParaRPr lang="en-AE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01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3621-7929-2324-A608-EB1C94BC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Chapter 1: Introduction.</a:t>
            </a:r>
            <a:b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B148-1E76-3196-3BF3-20E7FA99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956" y="2313038"/>
            <a:ext cx="10018713" cy="3124201"/>
          </a:xfrm>
        </p:spPr>
        <p:txBody>
          <a:bodyPr>
            <a:normAutofit fontScale="25000" lnSpcReduction="20000"/>
          </a:bodyPr>
          <a:lstStyle/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1.1 Overview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1.2 Terminology and types of Turnover.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1.3 Why do we want to decrease employee turnover rates?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2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1.4 problem statement and objectives.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1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C9C534A-05DB-652C-E3BB-A5CAE0834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16930" y="0"/>
            <a:ext cx="803386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Overview of Employee Turnover 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Retention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05739-4A08-89B1-3B00-243314B512FF}"/>
              </a:ext>
            </a:extLst>
          </p:cNvPr>
          <p:cNvSpPr txBox="1"/>
          <p:nvPr/>
        </p:nvSpPr>
        <p:spPr>
          <a:xfrm>
            <a:off x="1543114" y="1524000"/>
            <a:ext cx="951817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Employee turnover is a crucial issue that affects organizational stability and performance.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800" b="1" dirty="0">
              <a:effectLst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Understanding the causes of turnover through identification and analysis helps reduce the rates of turnover effectively.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800" b="1" dirty="0">
              <a:effectLst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Predicting turnover enables organizations to get to the root causes and implement solutions before employees actually leave.</a:t>
            </a:r>
          </a:p>
          <a:p>
            <a:pPr fontAlgn="base"/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4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4C8E8B2-D98D-E596-E377-4C261C01F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0142" y="0"/>
            <a:ext cx="115627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Terminology and Types of Employee Turnover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A4A46-6056-0475-E405-7C0D4B406C8C}"/>
              </a:ext>
            </a:extLst>
          </p:cNvPr>
          <p:cNvSpPr txBox="1"/>
          <p:nvPr/>
        </p:nvSpPr>
        <p:spPr>
          <a:xfrm>
            <a:off x="1332271" y="830200"/>
            <a:ext cx="105745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Definition of Employee Turnover in past and present: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Past: Intention to leave as a deliberate desire to exit the organization.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Present: Desire to leave a position for another job or role, either within the same organization or elsewhere.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Types of Turnover: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Based on Will to Leave: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Voluntary: Initiated by the employee.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Functional: When a poor performer quits.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Involuntary: When the employer initiates separation for either poor performance, violation of policies, or absenteeism. 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Internal vs. External: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Internal: Employee changed their role in the same company.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External: The employee shifted to another company. 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Based on Skills: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Skilled: Less frequent, but more impactful.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242424"/>
                </a:solidFill>
                <a:effectLst/>
              </a:rPr>
              <a:t>Unskilled: Easy to replace; very little loss in productivity. </a:t>
            </a:r>
          </a:p>
        </p:txBody>
      </p:sp>
    </p:spTree>
    <p:extLst>
      <p:ext uri="{BB962C8B-B14F-4D97-AF65-F5344CB8AC3E}">
        <p14:creationId xmlns:p14="http://schemas.microsoft.com/office/powerpoint/2010/main" val="219189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51C44B9-2A2C-985F-F12F-7BDE9AF87B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0501" y="174541"/>
            <a:ext cx="977812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Reduce Employee Turnover Rates?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A1C7E-C820-24FF-7551-8A5152098D39}"/>
              </a:ext>
            </a:extLst>
          </p:cNvPr>
          <p:cNvSpPr txBox="1"/>
          <p:nvPr/>
        </p:nvSpPr>
        <p:spPr>
          <a:xfrm>
            <a:off x="1302470" y="1268447"/>
            <a:ext cx="78120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Due to High Employee Turnover:</a:t>
            </a:r>
          </a:p>
          <a:p>
            <a:pPr fontAlgn="base"/>
            <a:r>
              <a:rPr lang="en-US" sz="2400" b="1" dirty="0">
                <a:effectLst/>
              </a:rPr>
              <a:t>-Increased cost of recruitment, training, and development. </a:t>
            </a:r>
          </a:p>
          <a:p>
            <a:pPr fontAlgn="base"/>
            <a:r>
              <a:rPr lang="en-US" sz="2400" b="1" dirty="0">
                <a:effectLst/>
              </a:rPr>
              <a:t>-Loss of productivity and performance during transition periods. </a:t>
            </a:r>
          </a:p>
          <a:p>
            <a:pPr fontAlgn="base"/>
            <a:r>
              <a:rPr lang="en-US" sz="2400" b="1" dirty="0">
                <a:effectLst/>
              </a:rPr>
              <a:t>-Remaining employees will suffer from additional stress and overwork, which may lower performance level. 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Consequences:</a:t>
            </a:r>
          </a:p>
          <a:p>
            <a:pPr fontAlgn="base"/>
            <a:r>
              <a:rPr lang="en-US" sz="2400" b="1" dirty="0">
                <a:effectLst/>
              </a:rPr>
              <a:t>1-Cost and Time</a:t>
            </a:r>
            <a:r>
              <a:rPr lang="en-US" sz="2400" b="1" dirty="0"/>
              <a:t>.</a:t>
            </a:r>
          </a:p>
          <a:p>
            <a:pPr fontAlgn="base"/>
            <a:r>
              <a:rPr lang="en-US" sz="2400" b="1" dirty="0">
                <a:effectLst/>
              </a:rPr>
              <a:t>2-Threatens Growth and Survival</a:t>
            </a:r>
            <a:r>
              <a:rPr lang="en-US" sz="2400" b="1" dirty="0"/>
              <a:t>.</a:t>
            </a:r>
          </a:p>
          <a:p>
            <a:pPr fontAlgn="base"/>
            <a:r>
              <a:rPr lang="en-US" sz="2400" b="1" dirty="0">
                <a:effectLst/>
              </a:rPr>
              <a:t>3-Production and Performance.</a:t>
            </a:r>
          </a:p>
          <a:p>
            <a:pPr fontAlgn="base"/>
            <a:r>
              <a:rPr lang="en-US" sz="2400" b="1" dirty="0">
                <a:effectLst/>
              </a:rPr>
              <a:t>4-Skill and Knowledge Loss</a:t>
            </a:r>
            <a:r>
              <a:rPr lang="en-US" sz="2400" b="1" dirty="0"/>
              <a:t>.</a:t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80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561A687-FB61-0F8F-B4C7-FF38B613B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54582" y="233482"/>
            <a:ext cx="869443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E4215-2C3E-B11B-2DFC-17BD299DE7FF}"/>
              </a:ext>
            </a:extLst>
          </p:cNvPr>
          <p:cNvSpPr txBox="1"/>
          <p:nvPr/>
        </p:nvSpPr>
        <p:spPr>
          <a:xfrm>
            <a:off x="1603654" y="1396180"/>
            <a:ext cx="1080465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Problem Statement: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Employee turnover is a critical challenge for organizations, impacting productivity and profitability. Understanding turnover causes and predicting at-risk employees are essential to address the issue proactively. </a:t>
            </a:r>
          </a:p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Thesis Objectives: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Explore the relationship between different variables and employee turnover.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Create predictive models using machine learning that will identify employees at risk of leaving.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Compare the predictive models to find out which one is the best for turnover prediction.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20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AEAC-64A2-EE6A-AEDD-BA4743D2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Chapter 2: Literature Review.</a:t>
            </a:r>
            <a:br>
              <a:rPr lang="en-US" sz="4000" b="1" kern="0" dirty="0">
                <a:solidFill>
                  <a:srgbClr val="24242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4370D-95FF-5EEF-D054-677712CFC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588" y="2438399"/>
            <a:ext cx="10707690" cy="3124201"/>
          </a:xfrm>
        </p:spPr>
        <p:txBody>
          <a:bodyPr>
            <a:normAutofit fontScale="25000" lnSpcReduction="20000"/>
          </a:bodyPr>
          <a:lstStyle/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2.1 Factors That Influence Employee Turnover.  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2.2 How to Avoid Employee Turnover?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fontAlgn="base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2.3 challenges and recommendations.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2.4 Techniques used in previous research.</a:t>
            </a:r>
            <a:endParaRPr lang="en-US" sz="112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200" b="1" kern="0" dirty="0">
                <a:solidFill>
                  <a:srgbClr val="242424"/>
                </a:solidFill>
                <a:effectLst/>
                <a:ea typeface="Times New Roman" panose="02020603050405020304" pitchFamily="18" charset="0"/>
                <a:cs typeface="Segoe UI" panose="020B0502040204020203" pitchFamily="34" charset="0"/>
              </a:rPr>
              <a:t>2.5 </a:t>
            </a:r>
            <a:r>
              <a:rPr kumimoji="0" lang="en-US" altLang="en-US" sz="9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Areas of Improvement in Employee Turnover Research</a:t>
            </a:r>
            <a:endParaRPr lang="en-US" sz="11200" b="1" kern="0" dirty="0">
              <a:solidFill>
                <a:srgbClr val="242424"/>
              </a:solidFill>
              <a:effectLst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03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7A83F2-BAD5-01AA-92FC-B468BC30BEA6}"/>
              </a:ext>
            </a:extLst>
          </p:cNvPr>
          <p:cNvSpPr txBox="1"/>
          <p:nvPr/>
        </p:nvSpPr>
        <p:spPr>
          <a:xfrm>
            <a:off x="1548220" y="1337188"/>
            <a:ext cx="1052015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Overview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Predictors of turnover change with the evolution in human behavior and organizational dynamics. 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There are different levels at which turnover can be influenced: Individual, Team, Organizational, and Market-level. </a:t>
            </a:r>
          </a:p>
          <a:p>
            <a:pPr marL="457200" indent="-45720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Key Factors: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Individual Level: Job satisfaction, stress, wages, unmet expectations, work-life balance, career growth, and external job alternatives. 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Team Level: Emotional support, interpersonal relationships, and department-specific dynamics. </a:t>
            </a:r>
          </a:p>
          <a:p>
            <a:pPr marL="457200" indent="-45720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Organizational-Level Factors: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Poor leadership, low wages, lack of training, job dissatisfaction, poor work-life balance, and limited career growth. Organizational justice and employee engagement help mitigate turnover. </a:t>
            </a:r>
          </a:p>
          <a:p>
            <a:pPr algn="l" fontAlgn="base"/>
            <a:b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</a:br>
            <a:endParaRPr lang="en-US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98ED643-9ED1-0CF3-5289-62E7F3437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39542" y="204447"/>
            <a:ext cx="962404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Factors Influencing Employee Turnover</a:t>
            </a:r>
          </a:p>
        </p:txBody>
      </p:sp>
    </p:spTree>
    <p:extLst>
      <p:ext uri="{BB962C8B-B14F-4D97-AF65-F5344CB8AC3E}">
        <p14:creationId xmlns:p14="http://schemas.microsoft.com/office/powerpoint/2010/main" val="236551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2C80-4FB5-377C-3DF4-87E967D5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48" y="-218768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Factors Influencing Employee Turnover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8922F-6709-2059-6705-9DAED04DE3E3}"/>
              </a:ext>
            </a:extLst>
          </p:cNvPr>
          <p:cNvSpPr txBox="1"/>
          <p:nvPr/>
        </p:nvSpPr>
        <p:spPr>
          <a:xfrm>
            <a:off x="1386348" y="1533831"/>
            <a:ext cx="8642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Market-Level Factors: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Influenced by unemployment rates, job opportunities, wages, and trade unions. Economic trends impact turnover rates indirectly. 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Mediating Factors: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Social Capital: Enhances satisfaction, which in turn reduces turnover.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Employee Fit, Link, and Sacrifice: Predict job retention likelihood.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Individual factors usually mediate team and organizational influences.</a:t>
            </a:r>
          </a:p>
          <a:p>
            <a:pPr algn="l" fontAlgn="base"/>
            <a:endParaRPr lang="en-US" sz="2400" b="1" i="0" dirty="0">
              <a:solidFill>
                <a:srgbClr val="24242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8079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20F7-B3F7-FC0E-40A6-A40D6D7A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989" y="-464575"/>
            <a:ext cx="10018713" cy="1752599"/>
          </a:xfrm>
        </p:spPr>
        <p:txBody>
          <a:bodyPr/>
          <a:lstStyle/>
          <a:p>
            <a:pPr algn="l" fontAlgn="base"/>
            <a:r>
              <a:rPr lang="en-US" sz="4000" b="1" i="0" dirty="0">
                <a:solidFill>
                  <a:srgbClr val="242424"/>
                </a:solidFill>
                <a:effectLst/>
              </a:rPr>
              <a:t>Effective Strategies To </a:t>
            </a:r>
            <a:r>
              <a:rPr lang="en-US" b="1" dirty="0">
                <a:solidFill>
                  <a:srgbClr val="242424"/>
                </a:solidFill>
              </a:rPr>
              <a:t>R</a:t>
            </a:r>
            <a:r>
              <a:rPr lang="en-US" sz="4000" b="1" i="0" dirty="0">
                <a:solidFill>
                  <a:srgbClr val="242424"/>
                </a:solidFill>
                <a:effectLst/>
              </a:rPr>
              <a:t>educe Employee Turnover </a:t>
            </a:r>
            <a:r>
              <a:rPr lang="en-US" sz="4000" b="1" i="0" dirty="0" err="1">
                <a:solidFill>
                  <a:srgbClr val="242424"/>
                </a:solidFill>
                <a:effectLst/>
              </a:rPr>
              <a:t>Rstio</a:t>
            </a:r>
            <a:endParaRPr lang="en-US" sz="4000" b="1" i="0" dirty="0">
              <a:solidFill>
                <a:srgbClr val="242424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74ABE-1837-A3F9-D959-657CD2B774D1}"/>
              </a:ext>
            </a:extLst>
          </p:cNvPr>
          <p:cNvSpPr txBox="1"/>
          <p:nvPr/>
        </p:nvSpPr>
        <p:spPr>
          <a:xfrm>
            <a:off x="1385989" y="1512676"/>
            <a:ext cx="955695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Engagement of employees in decision-making and solving problems. 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Supportive leadership and opportunities for career growth. 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Fair wage, satisfaction with the job, and balance in work-life.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High level of employee engagement and high satisfaction level lead to lower turnover intentions. 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Mediators connect the organizational dynamics with the personal decisions. 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24242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503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046CF36-2211-7D7A-77F6-53D4913F4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71612" y="439960"/>
            <a:ext cx="737682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Reducing Employee Turnover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D6394-1303-97E4-8063-01292A858CAD}"/>
              </a:ext>
            </a:extLst>
          </p:cNvPr>
          <p:cNvSpPr txBox="1"/>
          <p:nvPr/>
        </p:nvSpPr>
        <p:spPr>
          <a:xfrm>
            <a:off x="1455173" y="1629986"/>
            <a:ext cx="928165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Key Focus Areas: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Interpersonal Relationships: Good relations, trust, and respect translate into increased satisfaction and decreased turnover.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Understanding Employee Needs: Meeting the physical, emotional, and professional needs of employees increases retention. </a:t>
            </a:r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760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9AA9-6DC4-658C-A023-6EC8D8777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002" y="-238433"/>
            <a:ext cx="10018713" cy="1752599"/>
          </a:xfrm>
        </p:spPr>
        <p:txBody>
          <a:bodyPr>
            <a:normAutofit/>
          </a:bodyPr>
          <a:lstStyle/>
          <a:p>
            <a:r>
              <a:rPr lang="en-US" sz="4400" b="1" dirty="0"/>
              <a:t>Strategies to Reduce Turnover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70269-4AFD-A215-BA8C-6CDF5C4DEB87}"/>
              </a:ext>
            </a:extLst>
          </p:cNvPr>
          <p:cNvSpPr txBox="1"/>
          <p:nvPr/>
        </p:nvSpPr>
        <p:spPr>
          <a:xfrm>
            <a:off x="1729760" y="1651820"/>
            <a:ext cx="991091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Effective Retention Strategies: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Strong management systems and training opportunities.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Free flow of communication and empathetic culture.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Job satisfaction through role fit, rewards, and benefits.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Employee engagement through interactive activities and career growth. </a:t>
            </a:r>
            <a:br>
              <a:rPr lang="en-US" sz="2800" b="1" i="0" dirty="0">
                <a:solidFill>
                  <a:srgbClr val="242424"/>
                </a:solidFill>
                <a:effectLst/>
              </a:rPr>
            </a:br>
            <a:endParaRPr lang="en-US" sz="2800" b="1" i="0" dirty="0">
              <a:solidFill>
                <a:srgbClr val="242424"/>
              </a:solidFill>
              <a:effectLst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Managerial Behaviors: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Proactive coaching and addressing challenges with the employees.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Promote well-being and work-life balance. </a:t>
            </a:r>
          </a:p>
        </p:txBody>
      </p:sp>
    </p:spTree>
    <p:extLst>
      <p:ext uri="{BB962C8B-B14F-4D97-AF65-F5344CB8AC3E}">
        <p14:creationId xmlns:p14="http://schemas.microsoft.com/office/powerpoint/2010/main" val="1279122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E89262-B905-66AD-80A3-C4C7DE3A3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03834" y="0"/>
            <a:ext cx="5984331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Employee Engagement 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&amp; Job Embeddedness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354D7-A0C5-4356-7E08-24429A6D3B12}"/>
              </a:ext>
            </a:extLst>
          </p:cNvPr>
          <p:cNvSpPr txBox="1"/>
          <p:nvPr/>
        </p:nvSpPr>
        <p:spPr>
          <a:xfrm>
            <a:off x="1632155" y="1917290"/>
            <a:ext cx="101173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Engagement Strategies: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Facilitate employee happiness through opportunities and skill alignment.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Encourage work-life balance and career growth.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Job Embeddedness: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Align with community and lifestyle.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Lower recruitment and training costs due to longer retention.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Impact: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Commitment high, turnover intentions low. </a:t>
            </a:r>
          </a:p>
        </p:txBody>
      </p:sp>
    </p:spTree>
    <p:extLst>
      <p:ext uri="{BB962C8B-B14F-4D97-AF65-F5344CB8AC3E}">
        <p14:creationId xmlns:p14="http://schemas.microsoft.com/office/powerpoint/2010/main" val="51150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E6182D9-D057-F7E0-3901-CFA68AC87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67769" y="0"/>
            <a:ext cx="816204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Enhancement of Job Satisfaction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Retention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F2F7B-61F0-8810-EF59-5F907E54675F}"/>
              </a:ext>
            </a:extLst>
          </p:cNvPr>
          <p:cNvSpPr txBox="1"/>
          <p:nvPr/>
        </p:nvSpPr>
        <p:spPr>
          <a:xfrm>
            <a:off x="1543303" y="1446550"/>
            <a:ext cx="106486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Work Environment: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Positive relationships and job satisfaction diminish stress.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 Match jobs to employee competencies for more motivation and productivity.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Holistic Retention Strategies: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Implement High-Performance Work Systems. 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Improve employee competencies and motivation to increase satisfaction.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Outcome: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Improved job satisfaction, less absenteeism, and lower labor turnover.</a:t>
            </a:r>
          </a:p>
        </p:txBody>
      </p:sp>
    </p:spTree>
    <p:extLst>
      <p:ext uri="{BB962C8B-B14F-4D97-AF65-F5344CB8AC3E}">
        <p14:creationId xmlns:p14="http://schemas.microsoft.com/office/powerpoint/2010/main" val="2448805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7F4FD07-45D8-754F-0F0F-AE3A5C8D8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8512" y="125327"/>
            <a:ext cx="857497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 and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1E554-AF6F-5357-3576-9F1620B9B45A}"/>
              </a:ext>
            </a:extLst>
          </p:cNvPr>
          <p:cNvSpPr txBox="1"/>
          <p:nvPr/>
        </p:nvSpPr>
        <p:spPr>
          <a:xfrm>
            <a:off x="1366684" y="1573161"/>
            <a:ext cx="1094330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Challenges: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Limited scope of the present data to stand in for comprehensive analysis.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The longitudinal studies in detail are highly required for analyzing the relations over time.</a:t>
            </a:r>
          </a:p>
          <a:p>
            <a:pPr fontAlgn="base"/>
            <a:endParaRPr lang="en-US" sz="2800" b="1" dirty="0">
              <a:effectLst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Recommendations: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Longitudinal survey design should be used to make in-depth analysis of variables under study.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Datasets from multiple regions will enable broader comprehension of social capital's impact on turnover intentions.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0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5EFA-A739-5C72-1E8E-3FF66345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826" y="-216310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Techniques Used in Employee 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Turnover Prediction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2CF2D7-35C1-0E29-54A2-990CBCDBE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604998"/>
              </p:ext>
            </p:extLst>
          </p:nvPr>
        </p:nvGraphicFramePr>
        <p:xfrm>
          <a:off x="938441" y="2074606"/>
          <a:ext cx="11110451" cy="4403532"/>
        </p:xfrm>
        <a:graphic>
          <a:graphicData uri="http://schemas.openxmlformats.org/drawingml/2006/table">
            <a:tbl>
              <a:tblPr firstRow="1" firstCol="1" bandRow="1"/>
              <a:tblGrid>
                <a:gridCol w="1116501">
                  <a:extLst>
                    <a:ext uri="{9D8B030D-6E8A-4147-A177-3AD203B41FA5}">
                      <a16:colId xmlns:a16="http://schemas.microsoft.com/office/drawing/2014/main" val="2877079816"/>
                    </a:ext>
                  </a:extLst>
                </a:gridCol>
                <a:gridCol w="1730477">
                  <a:extLst>
                    <a:ext uri="{9D8B030D-6E8A-4147-A177-3AD203B41FA5}">
                      <a16:colId xmlns:a16="http://schemas.microsoft.com/office/drawing/2014/main" val="242604626"/>
                    </a:ext>
                  </a:extLst>
                </a:gridCol>
                <a:gridCol w="4641733">
                  <a:extLst>
                    <a:ext uri="{9D8B030D-6E8A-4147-A177-3AD203B41FA5}">
                      <a16:colId xmlns:a16="http://schemas.microsoft.com/office/drawing/2014/main" val="3676323825"/>
                    </a:ext>
                  </a:extLst>
                </a:gridCol>
                <a:gridCol w="2486788">
                  <a:extLst>
                    <a:ext uri="{9D8B030D-6E8A-4147-A177-3AD203B41FA5}">
                      <a16:colId xmlns:a16="http://schemas.microsoft.com/office/drawing/2014/main" val="2244499616"/>
                    </a:ext>
                  </a:extLst>
                </a:gridCol>
                <a:gridCol w="1134952">
                  <a:extLst>
                    <a:ext uri="{9D8B030D-6E8A-4147-A177-3AD203B41FA5}">
                      <a16:colId xmlns:a16="http://schemas.microsoft.com/office/drawing/2014/main" val="4223984174"/>
                    </a:ext>
                  </a:extLst>
                </a:gridCol>
              </a:tblGrid>
              <a:tr h="136668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Reference number.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Authors</a:t>
                      </a:r>
                      <a:endParaRPr lang="en-US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Technique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Target variable</a:t>
                      </a:r>
                      <a:endParaRPr lang="en-US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737430880"/>
                  </a:ext>
                </a:extLst>
              </a:tr>
              <a:tr h="12112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Lazzari et al. (2022)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K-nearest neighbor (KNN), Decision Trees (DT), Logistic Regression (LR), Random Forests (RF), XGBoost (XGB), LightGBM (LGBM), TabNet (TABNET)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 intention of the respondent to leave the organization within the next three months. 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categorical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235394138"/>
                  </a:ext>
                </a:extLst>
              </a:tr>
              <a:tr h="8051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Jin et al. (2023)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Random Survival Forest (RSF) for survival analysis and Random Forest (RF) for turnover prediction, leading to the RFRSF algorithm.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the turnover status of employees.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Categorical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33636241"/>
                  </a:ext>
                </a:extLst>
              </a:tr>
              <a:tr h="3990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Ramlawati et al. (2021)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Partial Least Square (PLS) approach, Structural Equation Modeling (SEM)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Turnover Intention.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categorical.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33547856"/>
                  </a:ext>
                </a:extLst>
              </a:tr>
              <a:tr h="3990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Bayad Jamal Ali et al. (2021)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Factor analysis, regression analysis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turnover intention.</a:t>
                      </a:r>
                      <a:endParaRPr lang="en-US" sz="1600" b="1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Categorical</a:t>
                      </a:r>
                      <a:endParaRPr lang="en-US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4520" marR="445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306589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A3F17C-51C9-4BB5-0649-4A997EBE790E}"/>
              </a:ext>
            </a:extLst>
          </p:cNvPr>
          <p:cNvSpPr txBox="1"/>
          <p:nvPr/>
        </p:nvSpPr>
        <p:spPr>
          <a:xfrm>
            <a:off x="1336826" y="1348513"/>
            <a:ext cx="5604387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Sample of Table 1: Most Techniques used.</a:t>
            </a:r>
            <a:endParaRPr lang="en-US" sz="1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8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C31BAAD-B660-77EC-962B-C2304324B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13575" y="71909"/>
            <a:ext cx="749647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Techniques Used in Employee 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Turnover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64C56-F90E-90B1-BF8D-2929CAB2FFE6}"/>
              </a:ext>
            </a:extLst>
          </p:cNvPr>
          <p:cNvSpPr txBox="1"/>
          <p:nvPr/>
        </p:nvSpPr>
        <p:spPr>
          <a:xfrm>
            <a:off x="1514167" y="1612539"/>
            <a:ext cx="1058934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Summary of Results: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</a:rPr>
              <a:t>Most Used Techniques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SEM-Structural Equation Modeling: 21 articles, Regression Analysis: 15 articles, Random Forest (RF): 5 articles. 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</a:rPr>
              <a:t>Other Techniques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PLS, CFA, PLS-SEM: 4 articles each, Decision Tree (DT), Pearson Correlation: 3 articles each, XGB, OLS: 2 articles each. </a:t>
            </a:r>
          </a:p>
          <a:p>
            <a:pPr marL="285750" indent="-285750" fontAlgn="base">
              <a:buFont typeface="Wingdings" panose="05000000000000000000" pitchFamily="2" charset="2"/>
              <a:buChar char="v"/>
            </a:pPr>
            <a:r>
              <a:rPr lang="en-US" sz="2400" b="1" dirty="0">
                <a:effectLst/>
              </a:rPr>
              <a:t>Less Used Techniques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KNN, LFBM, TABNET, RSF, AMOS, Bootstrapping, Factor Analysis, etc.: </a:t>
            </a:r>
            <a:r>
              <a:rPr lang="en-US" sz="2400" b="1" dirty="0"/>
              <a:t>T</a:t>
            </a:r>
            <a:r>
              <a:rPr lang="en-US" sz="2400" b="1" dirty="0">
                <a:effectLst/>
              </a:rPr>
              <a:t>hese techniques were used once in various studies.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b="1" dirty="0">
              <a:effectLst/>
            </a:endParaRPr>
          </a:p>
          <a:p>
            <a:pPr marL="342900" indent="-342900" fontAlgn="base">
              <a:buFont typeface="Wingdings" panose="05000000000000000000" pitchFamily="2" charset="2"/>
              <a:buChar char="q"/>
            </a:pPr>
            <a:r>
              <a:rPr lang="en-US" sz="2400" b="1" dirty="0"/>
              <a:t>Results</a:t>
            </a:r>
            <a:r>
              <a:rPr lang="en-US" sz="2400" b="1" dirty="0">
                <a:effectLst/>
              </a:rPr>
              <a:t> combine statistical methods and machine learning models; the most prominent is SEM in employee turnover prediction and analysis.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23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81C9C7A-4A84-F8AC-6F16-72131FAC1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95589" y="0"/>
            <a:ext cx="720530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Areas of Improvement in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Employee Turnover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3A5DF-1385-A3EB-6C49-67AFB43ADE61}"/>
              </a:ext>
            </a:extLst>
          </p:cNvPr>
          <p:cNvSpPr txBox="1"/>
          <p:nvPr/>
        </p:nvSpPr>
        <p:spPr>
          <a:xfrm>
            <a:off x="1553497" y="1471910"/>
            <a:ext cx="887242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The Need for Consensus in Identifying Key Factors: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Most studies establish factors that influence employee turnover, but there is no agreement on which factors are most influential.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Exploring Contemporary Machine Learning Procedure: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A limited number of studies use machine learning techniques for employee turnover prediction.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 Comparative Studies for Comprehensive Analysis: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Very few studies are found comparing different machine learning models to find the best predictive model for employee turnover.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79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63CF-38F1-5C0E-E5E6-7D6EA8508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291" y="190500"/>
            <a:ext cx="10018713" cy="1752599"/>
          </a:xfrm>
        </p:spPr>
        <p:txBody>
          <a:bodyPr>
            <a:normAutofit fontScale="90000"/>
          </a:bodyPr>
          <a:lstStyle/>
          <a:p>
            <a:r>
              <a:rPr lang="en-AE" sz="4400" b="1" dirty="0"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AE" sz="4400" b="1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hapter 3: About Data and Data exploration.</a:t>
            </a:r>
            <a:br>
              <a:rPr lang="en-AE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44641-B71A-C2BB-A412-2EF409592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6593" y="2303206"/>
            <a:ext cx="10018713" cy="3124201"/>
          </a:xfrm>
        </p:spPr>
        <p:txBody>
          <a:bodyPr>
            <a:normAutofit fontScale="25000" lnSpcReduction="20000"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3.1 Introduction for data.</a:t>
            </a:r>
            <a:endParaRPr lang="en-US" sz="1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3.2 About Data and Summary Statistics.</a:t>
            </a:r>
            <a:endParaRPr lang="en-US" sz="1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3.3 Visualizations</a:t>
            </a:r>
            <a:r>
              <a:rPr lang="en-AE" sz="5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US" sz="59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3.4 Missing data.</a:t>
            </a:r>
            <a:endParaRPr lang="en-US" sz="1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1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3.5 Correlation Analysis.</a:t>
            </a:r>
            <a:endParaRPr lang="en-US" sz="112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96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F90FC5C-B027-0C13-8F14-04CBD7D68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8001" y="105663"/>
            <a:ext cx="61911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Introduction F</a:t>
            </a:r>
            <a:r>
              <a:rPr lang="en-US" altLang="en-US" sz="4400" b="1" dirty="0">
                <a:ln>
                  <a:noFill/>
                </a:ln>
              </a:rPr>
              <a:t>or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507BF-2296-3D65-DEE2-F906D9F18168}"/>
              </a:ext>
            </a:extLst>
          </p:cNvPr>
          <p:cNvSpPr txBox="1"/>
          <p:nvPr/>
        </p:nvSpPr>
        <p:spPr>
          <a:xfrm>
            <a:off x="1244835" y="1240796"/>
            <a:ext cx="1075649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Dataset Overview: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This is a dataset based on employees for HR Analytics. It was published in Kaggle and it is under CC0: Public Domain License.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Variables: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Satisfaction level, Number of Projects, Average Monthly Hours, Years at Company, Promotion in Last 5 Years, Department, Salary level, Last Performance Rating, had work accident, and has left company.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C95E49-30EC-AACF-A09C-1682978DD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69076"/>
              </p:ext>
            </p:extLst>
          </p:nvPr>
        </p:nvGraphicFramePr>
        <p:xfrm>
          <a:off x="98322" y="4466483"/>
          <a:ext cx="6243484" cy="2071093"/>
        </p:xfrm>
        <a:graphic>
          <a:graphicData uri="http://schemas.openxmlformats.org/drawingml/2006/table">
            <a:tbl>
              <a:tblPr firstRow="1" firstCol="1" bandRow="1"/>
              <a:tblGrid>
                <a:gridCol w="636381">
                  <a:extLst>
                    <a:ext uri="{9D8B030D-6E8A-4147-A177-3AD203B41FA5}">
                      <a16:colId xmlns:a16="http://schemas.microsoft.com/office/drawing/2014/main" val="1124179568"/>
                    </a:ext>
                  </a:extLst>
                </a:gridCol>
                <a:gridCol w="1033858">
                  <a:extLst>
                    <a:ext uri="{9D8B030D-6E8A-4147-A177-3AD203B41FA5}">
                      <a16:colId xmlns:a16="http://schemas.microsoft.com/office/drawing/2014/main" val="3531521896"/>
                    </a:ext>
                  </a:extLst>
                </a:gridCol>
                <a:gridCol w="1190948">
                  <a:extLst>
                    <a:ext uri="{9D8B030D-6E8A-4147-A177-3AD203B41FA5}">
                      <a16:colId xmlns:a16="http://schemas.microsoft.com/office/drawing/2014/main" val="1976723070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989972627"/>
                    </a:ext>
                  </a:extLst>
                </a:gridCol>
                <a:gridCol w="1303793">
                  <a:extLst>
                    <a:ext uri="{9D8B030D-6E8A-4147-A177-3AD203B41FA5}">
                      <a16:colId xmlns:a16="http://schemas.microsoft.com/office/drawing/2014/main" val="3324059442"/>
                    </a:ext>
                  </a:extLst>
                </a:gridCol>
                <a:gridCol w="810143">
                  <a:extLst>
                    <a:ext uri="{9D8B030D-6E8A-4147-A177-3AD203B41FA5}">
                      <a16:colId xmlns:a16="http://schemas.microsoft.com/office/drawing/2014/main" val="161509725"/>
                    </a:ext>
                  </a:extLst>
                </a:gridCol>
              </a:tblGrid>
              <a:tr h="4173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Row Number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satisfaction_level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last_performance_rating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number_of_projects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avg_monthly_hours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years_at_company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51718518"/>
                  </a:ext>
                </a:extLst>
              </a:tr>
              <a:tr h="30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157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28383691"/>
                  </a:ext>
                </a:extLst>
              </a:tr>
              <a:tr h="30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262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26059204"/>
                  </a:ext>
                </a:extLst>
              </a:tr>
              <a:tr h="30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272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23293802"/>
                  </a:ext>
                </a:extLst>
              </a:tr>
              <a:tr h="30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223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421435152"/>
                  </a:ext>
                </a:extLst>
              </a:tr>
              <a:tr h="30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0.37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159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15913602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C95B20-896E-67E3-EC42-9FDC74D47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150221"/>
              </p:ext>
            </p:extLst>
          </p:nvPr>
        </p:nvGraphicFramePr>
        <p:xfrm>
          <a:off x="6341806" y="4466481"/>
          <a:ext cx="5659520" cy="2071095"/>
        </p:xfrm>
        <a:graphic>
          <a:graphicData uri="http://schemas.openxmlformats.org/drawingml/2006/table">
            <a:tbl>
              <a:tblPr firstRow="1" firstCol="1" bandRow="1"/>
              <a:tblGrid>
                <a:gridCol w="1087520">
                  <a:extLst>
                    <a:ext uri="{9D8B030D-6E8A-4147-A177-3AD203B41FA5}">
                      <a16:colId xmlns:a16="http://schemas.microsoft.com/office/drawing/2014/main" val="2732277389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735584355"/>
                    </a:ext>
                  </a:extLst>
                </a:gridCol>
                <a:gridCol w="1577022">
                  <a:extLst>
                    <a:ext uri="{9D8B030D-6E8A-4147-A177-3AD203B41FA5}">
                      <a16:colId xmlns:a16="http://schemas.microsoft.com/office/drawing/2014/main" val="1560199880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961348559"/>
                    </a:ext>
                  </a:extLst>
                </a:gridCol>
                <a:gridCol w="871210">
                  <a:extLst>
                    <a:ext uri="{9D8B030D-6E8A-4147-A177-3AD203B41FA5}">
                      <a16:colId xmlns:a16="http://schemas.microsoft.com/office/drawing/2014/main" val="559888575"/>
                    </a:ext>
                  </a:extLst>
                </a:gridCol>
              </a:tblGrid>
              <a:tr h="4823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had_work_accident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has_left_company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promoted_in_last_5_years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Department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salary_level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02906365"/>
                  </a:ext>
                </a:extLst>
              </a:tr>
              <a:tr h="321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802808956"/>
                  </a:ext>
                </a:extLst>
              </a:tr>
              <a:tr h="321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39525260"/>
                  </a:ext>
                </a:extLst>
              </a:tr>
              <a:tr h="321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462215053"/>
                  </a:ext>
                </a:extLst>
              </a:tr>
              <a:tr h="321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11643150"/>
                  </a:ext>
                </a:extLst>
              </a:tr>
              <a:tr h="3041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1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518967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3E88FA-FAA2-DC57-42B5-61AE69F5115A}"/>
              </a:ext>
            </a:extLst>
          </p:cNvPr>
          <p:cNvSpPr txBox="1"/>
          <p:nvPr/>
        </p:nvSpPr>
        <p:spPr>
          <a:xfrm>
            <a:off x="796413" y="3917287"/>
            <a:ext cx="467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2: Header of first 5 samples.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158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91638F3C-0957-9E2C-B8E9-75B7A0706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52603" y="186780"/>
            <a:ext cx="608679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About Dataset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4CEF1-FC82-5A6D-E861-1D16693A66A7}"/>
              </a:ext>
            </a:extLst>
          </p:cNvPr>
          <p:cNvSpPr txBox="1"/>
          <p:nvPr/>
        </p:nvSpPr>
        <p:spPr>
          <a:xfrm>
            <a:off x="2192594" y="1061884"/>
            <a:ext cx="953729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Satisfaction Level: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Description: Self-reported job satisfaction level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Type: Numerical (0-1)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Range: 0 (low) to 1 (high)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Last Performance Rating: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Description: Employee's last performance score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Type: Numerical (0-1)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Range: 0 (lowest) to 1 (highest)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Number of Projects: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Description: Total number of projects worked 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 Type: Numerical (Integer)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Range: Higher values indicate more projects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Average Monthly Hours: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Description: Average work hours per month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Type: Numerical (Continuous Integer)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10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BADA-5AFF-B2F9-7FCE-DE7675EC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127" y="-400664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About Dataset Variables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7B1E2-58B0-83B5-996C-C2E8A4E6BD69}"/>
              </a:ext>
            </a:extLst>
          </p:cNvPr>
          <p:cNvSpPr txBox="1"/>
          <p:nvPr/>
        </p:nvSpPr>
        <p:spPr>
          <a:xfrm>
            <a:off x="2025445" y="1425677"/>
            <a:ext cx="98125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Years at Company: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Employee's tenure at the company (in years)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Numerical (Continuous Float)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Had Work Accident: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Indicates if employee had a work accident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Categorical (Binary 0 or 1)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Promoted in Last 5 Years: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Whether the employee was promoted in the last 5 years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Categorical (Binary 0 or 1) </a:t>
            </a:r>
          </a:p>
        </p:txBody>
      </p:sp>
    </p:spTree>
    <p:extLst>
      <p:ext uri="{BB962C8B-B14F-4D97-AF65-F5344CB8AC3E}">
        <p14:creationId xmlns:p14="http://schemas.microsoft.com/office/powerpoint/2010/main" val="3927850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7EFD-55C4-1665-2D84-D6C1C3B3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372" y="-297426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About Dataset Variables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ED1D6-0E83-EFF8-1331-4B0CAFE75336}"/>
              </a:ext>
            </a:extLst>
          </p:cNvPr>
          <p:cNvSpPr txBox="1"/>
          <p:nvPr/>
        </p:nvSpPr>
        <p:spPr>
          <a:xfrm>
            <a:off x="3067665" y="1248696"/>
            <a:ext cx="79739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Department: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Employee’s department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Categorical (Integer Encoded)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Range: 0-9 representing various departments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Salary Level: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Employee’s salary level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Categorical (Encoded)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Range: 0 (Low), 1 (Medium), 2 (High) 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Has Left Company (Target Feature):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Description: Whether the employee left the company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242424"/>
                </a:solidFill>
                <a:effectLst/>
              </a:rPr>
              <a:t>Type: Categorical (Binary 0 or 1) </a:t>
            </a:r>
          </a:p>
        </p:txBody>
      </p:sp>
    </p:spTree>
    <p:extLst>
      <p:ext uri="{BB962C8B-B14F-4D97-AF65-F5344CB8AC3E}">
        <p14:creationId xmlns:p14="http://schemas.microsoft.com/office/powerpoint/2010/main" val="3148176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B9468A9-AAD3-7C43-E5DA-2B78728D5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62505" y="243315"/>
            <a:ext cx="758476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BF7F616-4520-DE34-D659-234694FE3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3" y="1795944"/>
            <a:ext cx="5943600" cy="361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5293F7C-3429-C493-01E1-1A4C9A891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949" y="1792585"/>
            <a:ext cx="5943600" cy="36106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EF62F5-762F-71BD-598F-47BE95F778A1}"/>
              </a:ext>
            </a:extLst>
          </p:cNvPr>
          <p:cNvSpPr txBox="1"/>
          <p:nvPr/>
        </p:nvSpPr>
        <p:spPr>
          <a:xfrm>
            <a:off x="1061884" y="5403195"/>
            <a:ext cx="3057833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1: summary statistics.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1074E-6D80-32D1-C372-33AFEFB76C70}"/>
              </a:ext>
            </a:extLst>
          </p:cNvPr>
          <p:cNvSpPr txBox="1"/>
          <p:nvPr/>
        </p:nvSpPr>
        <p:spPr>
          <a:xfrm>
            <a:off x="6610966" y="5465303"/>
            <a:ext cx="5095566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2: continuous of summary statistics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362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A20DD2B-EF45-1A45-4983-ED63DBAA7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03615" y="420295"/>
            <a:ext cx="758476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22C13-EDEF-8179-8F8E-793E6E524DC3}"/>
              </a:ext>
            </a:extLst>
          </p:cNvPr>
          <p:cNvSpPr txBox="1"/>
          <p:nvPr/>
        </p:nvSpPr>
        <p:spPr>
          <a:xfrm>
            <a:off x="1543664" y="1610410"/>
            <a:ext cx="10717162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Satisfaction Level: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0.09 to 1 (0% to 100% Satisfaction)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0.609 (60.9% Satisfaction)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0.25 (Moderate variability)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-0.461 (Slight left skew, indicating higher satisfaction)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Total Sum: 8,533.91 (Total satisfaction score across employees)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Last Performance Rating: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0.36 to 1 (0% to 100% Performance)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0.716 (71.6% performance)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0.171 (Low variability in performance scores)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-0.024 (Symmetric distribution, indicating balanced performance levels)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 Total Sum: 10,494.99 (Total performance score across employees)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63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3BA4-E9F7-00C8-29C9-55ECE974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-354675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FC43E-5E6C-A839-D6AB-9E9CAA806A41}"/>
              </a:ext>
            </a:extLst>
          </p:cNvPr>
          <p:cNvSpPr txBox="1"/>
          <p:nvPr/>
        </p:nvSpPr>
        <p:spPr>
          <a:xfrm>
            <a:off x="1720645" y="1256467"/>
            <a:ext cx="10471355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Number of Projects: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2 to 7 projects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3.803 projects (Average number of projects per employee)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1.233 (Moderate variability in projects handled)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0.338 (Slight right skew, indicating more employees worked on fewer projects)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Total Sum: 57,042 (Total number of projects handled by all employees) </a:t>
            </a:r>
            <a:endParaRPr lang="en-US" sz="2300" b="1" dirty="0"/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Average Monthly Hours: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96 to 310 hours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201.081 hours (Average monthly work hours per employee)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49.995 (High variability in monthly work hours)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0.054 (Almost symmetric distribution, indicating a balanced spread of work hours)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Total Sum: 2,967,346 hours (Total work hours across employees)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78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25E7-AFB8-CB50-2C59-4CB64F90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698" y="-297426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63A28-402E-3138-B12E-D211072F5F75}"/>
              </a:ext>
            </a:extLst>
          </p:cNvPr>
          <p:cNvSpPr txBox="1"/>
          <p:nvPr/>
        </p:nvSpPr>
        <p:spPr>
          <a:xfrm>
            <a:off x="1759975" y="1189702"/>
            <a:ext cx="1021571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Years at Company: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2 to 10 years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3.507 years (Average tenure of employees at the company)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1.468 (Moderate variability in employee tenure)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1.852 (Strong right skew, indicating that most employees are relatively new)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Total Sum: 51,372 years (Total years worked by all employees)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300" b="1" dirty="0">
                <a:effectLst/>
              </a:rPr>
              <a:t>Had Work Accident: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Range: 0 to 1 (0 = No, 1 = Yes)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Mean: 0.145 (14.5% of employees had a work accident)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Standard Deviation: 0.352 (Moderate variability in accident occurrences)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Skewness: 2.021 (Strong right skew, indicating most employees did not have accidents)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300" b="1" dirty="0">
                <a:effectLst/>
              </a:rPr>
              <a:t>Total Sum: 2,169 (Total number of work accidents) </a:t>
            </a:r>
          </a:p>
        </p:txBody>
      </p:sp>
    </p:spTree>
    <p:extLst>
      <p:ext uri="{BB962C8B-B14F-4D97-AF65-F5344CB8AC3E}">
        <p14:creationId xmlns:p14="http://schemas.microsoft.com/office/powerpoint/2010/main" val="980646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6898-8883-3DB5-0C39-EC37C8837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659" y="-326923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E302F-9225-2199-EE85-48352D2FC914}"/>
              </a:ext>
            </a:extLst>
          </p:cNvPr>
          <p:cNvSpPr txBox="1"/>
          <p:nvPr/>
        </p:nvSpPr>
        <p:spPr>
          <a:xfrm>
            <a:off x="1513808" y="1425676"/>
            <a:ext cx="1107148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200" b="1" dirty="0">
                <a:effectLst/>
              </a:rPr>
              <a:t>Has Left Company: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Range: 0 to 1 (0 = Stayed, 1 = Left)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Mean: 0.238 (23.8% of employees left the company)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Standard Deviation: 0.426 (Moderate variability in turnover)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Skewness: 1.23 (Strong right skew, indicating that most employees stayed in the company)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Total Sum: 3,571 (Total number of employees who left the company) 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200" b="1" dirty="0">
                <a:effectLst/>
              </a:rPr>
              <a:t>Promoted in Last 5 Years: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Range: 0 to 1 (0 = No promotion, 1 = Promoted)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Mean: 0.021 (2.1% of employees were promoted in the last 5 years)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Standard Deviation: 0.144 (Low variability in promotion occurrences)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Skewness: 6.637 (Strong right skew, indicating promotions are rare)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200" b="1" dirty="0">
                <a:effectLst/>
              </a:rPr>
              <a:t>Total Sum: 319 (Total number of employees promoted in the last 5 years) </a:t>
            </a:r>
          </a:p>
        </p:txBody>
      </p:sp>
    </p:spTree>
    <p:extLst>
      <p:ext uri="{BB962C8B-B14F-4D97-AF65-F5344CB8AC3E}">
        <p14:creationId xmlns:p14="http://schemas.microsoft.com/office/powerpoint/2010/main" val="490539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F222-94BE-DF8B-C144-F454C2F3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37" y="59960"/>
            <a:ext cx="10018713" cy="1752599"/>
          </a:xfrm>
        </p:spPr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Statistics of Dataset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A97FC-D52B-D7EA-41E1-C6E56D682989}"/>
              </a:ext>
            </a:extLst>
          </p:cNvPr>
          <p:cNvSpPr txBox="1"/>
          <p:nvPr/>
        </p:nvSpPr>
        <p:spPr>
          <a:xfrm>
            <a:off x="2074605" y="1951422"/>
            <a:ext cx="75118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Salary Level: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Range: -1 to 1 (0 = Low, 1 = High)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Mean: -0.405 (Mostly low salary level)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Standard Deviation: 0.637 (Moderate variability in salary levels)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Skewness: 0.599 (Slight right skew, indicating a tendency toward low salaries)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Total Sum: -6,079 (Total salary value across employees) </a:t>
            </a:r>
          </a:p>
          <a:p>
            <a:br>
              <a:rPr lang="en-US" sz="1800" dirty="0">
                <a:effectLst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04004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7F946-A2BE-BE71-775B-688161A7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AD09-B255-56CE-D8CC-AC54DA4A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40" y="-356419"/>
            <a:ext cx="10018713" cy="1752599"/>
          </a:xfrm>
        </p:spPr>
        <p:txBody>
          <a:bodyPr>
            <a:normAutofit/>
          </a:bodyPr>
          <a:lstStyle/>
          <a:p>
            <a:r>
              <a:rPr lang="en-US" sz="4400" b="1" dirty="0"/>
              <a:t>Employee Salary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A33E7-D52F-C92B-128E-DD7920DF549D}"/>
              </a:ext>
            </a:extLst>
          </p:cNvPr>
          <p:cNvSpPr txBox="1"/>
          <p:nvPr/>
        </p:nvSpPr>
        <p:spPr>
          <a:xfrm>
            <a:off x="1218840" y="1536174"/>
            <a:ext cx="52700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Pie chart shows the distribution of employees according to salary grades: High, Medium, Low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Key Findings: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High Salary: 1,237 employees (8.25% of total).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Medium Salary: 6,446 employees (42.97% of total).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Low Salary: 7,316 employees (48.78% of total). </a:t>
            </a:r>
          </a:p>
        </p:txBody>
      </p:sp>
      <p:pic>
        <p:nvPicPr>
          <p:cNvPr id="5" name="Picture 4" descr="A pie chart with numbers and text&#10;&#10;Description automatically generated">
            <a:extLst>
              <a:ext uri="{FF2B5EF4-FFF2-40B4-BE49-F238E27FC236}">
                <a16:creationId xmlns:a16="http://schemas.microsoft.com/office/drawing/2014/main" id="{B64A4278-65EB-626A-E136-CC1CF4FEB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960" y="1778471"/>
            <a:ext cx="5426395" cy="330105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BE3D49-43D7-429D-78B4-C2338CEC3D32}"/>
              </a:ext>
            </a:extLst>
          </p:cNvPr>
          <p:cNvSpPr txBox="1"/>
          <p:nvPr/>
        </p:nvSpPr>
        <p:spPr>
          <a:xfrm>
            <a:off x="6371303" y="5125861"/>
            <a:ext cx="5820697" cy="67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4: the percentage of people with high salaries, medium salaries, low salaries that we have in this dataset.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353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A68BF96-C389-025F-B09E-5B3BE84CB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31795" y="174489"/>
            <a:ext cx="926016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Department-wise Employee Turnover</a:t>
            </a:r>
          </a:p>
        </p:txBody>
      </p:sp>
      <p:pic>
        <p:nvPicPr>
          <p:cNvPr id="5" name="Picture 4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345F6841-A97E-E74E-9088-D1CA847DA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471" y="1138873"/>
            <a:ext cx="5539529" cy="426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C713CF-78C6-57C7-A1B4-A758EF811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471" y="5416602"/>
            <a:ext cx="2514217" cy="2713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BAB359-284F-25FD-2AE6-F31B8B4B3074}"/>
              </a:ext>
            </a:extLst>
          </p:cNvPr>
          <p:cNvSpPr txBox="1"/>
          <p:nvPr/>
        </p:nvSpPr>
        <p:spPr>
          <a:xfrm>
            <a:off x="7105699" y="5662821"/>
            <a:ext cx="5069660" cy="67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3: the total number of employee turnover within each department.</a:t>
            </a:r>
            <a:endParaRPr lang="en-US" sz="18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FF1D5-D78E-40A0-8FD2-F42A3A900BB0}"/>
              </a:ext>
            </a:extLst>
          </p:cNvPr>
          <p:cNvSpPr txBox="1"/>
          <p:nvPr/>
        </p:nvSpPr>
        <p:spPr>
          <a:xfrm>
            <a:off x="1395855" y="1397281"/>
            <a:ext cx="48629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The bar chart shows the department-wise distribution of employee turnover. 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242424"/>
              </a:solidFill>
              <a:effectLst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Key findings: 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The Sales department had the highest number of turnovers. </a:t>
            </a:r>
          </a:p>
          <a:p>
            <a:pPr algn="l" fontAlgn="base"/>
            <a:endParaRPr lang="en-US" sz="2400" b="1" i="0" dirty="0">
              <a:solidFill>
                <a:srgbClr val="242424"/>
              </a:solidFill>
              <a:effectLst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242424"/>
                </a:solidFill>
                <a:effectLst/>
              </a:rPr>
              <a:t>The Management department had the lowest number of turnovers.</a:t>
            </a:r>
          </a:p>
        </p:txBody>
      </p:sp>
    </p:spTree>
    <p:extLst>
      <p:ext uri="{BB962C8B-B14F-4D97-AF65-F5344CB8AC3E}">
        <p14:creationId xmlns:p14="http://schemas.microsoft.com/office/powerpoint/2010/main" val="1139129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AA9D1A3-A0FC-E3E1-DBB3-B5DCF3D6E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9518" y="430127"/>
            <a:ext cx="333296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C197A-DB47-2A6A-E7A5-E62EC193B567}"/>
              </a:ext>
            </a:extLst>
          </p:cNvPr>
          <p:cNvSpPr txBox="1"/>
          <p:nvPr/>
        </p:nvSpPr>
        <p:spPr>
          <a:xfrm>
            <a:off x="1956619" y="1995948"/>
            <a:ext cx="96651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There was both, numerical and categorical missing values.</a:t>
            </a:r>
          </a:p>
          <a:p>
            <a:pPr fontAlgn="base"/>
            <a:endParaRPr lang="en-US" sz="2800" b="1" dirty="0">
              <a:effectLst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Numerical Variables: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Missing values were imputed by calculating the mean for each respective variable. </a:t>
            </a:r>
          </a:p>
          <a:p>
            <a:pPr fontAlgn="base"/>
            <a:endParaRPr lang="en-US" sz="2800" b="1" dirty="0">
              <a:effectLst/>
            </a:endParaRP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800" b="1" dirty="0">
                <a:effectLst/>
              </a:rPr>
              <a:t>Categorical Variables: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Missing data was replaced with None to ensure smooth performance in KNIME nodes.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4352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92DA-1DC0-24C5-A9DE-B573339F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-19947"/>
            <a:ext cx="10018713" cy="1752599"/>
          </a:xfrm>
        </p:spPr>
        <p:txBody>
          <a:bodyPr>
            <a:normAutofit/>
          </a:bodyPr>
          <a:lstStyle/>
          <a:p>
            <a:r>
              <a:rPr lang="en-US" sz="4400" b="1" dirty="0"/>
              <a:t>Correlation Matrix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5D151EF-B8BB-72F4-9854-77E67C7D9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727" y="1191945"/>
            <a:ext cx="4660491" cy="46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178706-32D1-63D3-8BB8-62133E837BA4}"/>
              </a:ext>
            </a:extLst>
          </p:cNvPr>
          <p:cNvSpPr txBox="1"/>
          <p:nvPr/>
        </p:nvSpPr>
        <p:spPr>
          <a:xfrm>
            <a:off x="4729315" y="5779003"/>
            <a:ext cx="2733368" cy="67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5: Correlation Matrix.</a:t>
            </a:r>
          </a:p>
        </p:txBody>
      </p:sp>
    </p:spTree>
    <p:extLst>
      <p:ext uri="{BB962C8B-B14F-4D97-AF65-F5344CB8AC3E}">
        <p14:creationId xmlns:p14="http://schemas.microsoft.com/office/powerpoint/2010/main" val="149284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93CF04-A98A-C978-14CA-EBF6286FA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59614" y="174488"/>
            <a:ext cx="9389493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Correlations with "Has Left Company"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0D216-AA51-1890-2F4B-34A933E9BC0A}"/>
              </a:ext>
            </a:extLst>
          </p:cNvPr>
          <p:cNvSpPr txBox="1"/>
          <p:nvPr/>
        </p:nvSpPr>
        <p:spPr>
          <a:xfrm>
            <a:off x="1681315" y="1297859"/>
            <a:ext cx="10166555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Highest Correlation: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Satisfaction Level: -0.39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Interpretation: Negative correlation.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The lower the satisfaction level, the higher the possibility of leaving.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Weak Positive Correlation: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Years at Company: 0.14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Interpretation: Longer tenure slightly decreases the likelihood of leaving the company.</a:t>
            </a:r>
          </a:p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US" sz="2400" b="1" dirty="0">
                <a:effectLst/>
              </a:rPr>
              <a:t>Weak Negative Correlations: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Salary Level: -0.16.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Interpretation: Higher salary level correlates to more employee turnover.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Had Work Accident: -0.16.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</a:rPr>
              <a:t>Interpretation: Employees who experienced work accidents are slightly more likely to leave.</a:t>
            </a:r>
          </a:p>
          <a:p>
            <a:pPr fontAlgn="base"/>
            <a:r>
              <a:rPr lang="en-US" dirty="0">
                <a:effectLst/>
              </a:rPr>
              <a:t> 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202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6A90-AB7E-254D-0F91-04E3C838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05" y="-307258"/>
            <a:ext cx="10018713" cy="1752599"/>
          </a:xfrm>
        </p:spPr>
        <p:txBody>
          <a:bodyPr/>
          <a:lstStyle/>
          <a:p>
            <a:r>
              <a:rPr lang="en-AE" sz="40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Chapter 4: Methodology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87197-9ED5-477A-FA62-98F954ABE120}"/>
              </a:ext>
            </a:extLst>
          </p:cNvPr>
          <p:cNvSpPr txBox="1"/>
          <p:nvPr/>
        </p:nvSpPr>
        <p:spPr>
          <a:xfrm>
            <a:off x="2644878" y="1209366"/>
            <a:ext cx="8927690" cy="550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4.1 What are the types of analysis that will be used?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4.2 </a:t>
            </a: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Decision Tree.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4.3 Logistic regression.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4.4 Random Forest.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4.5 Neural Network.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4.6 K-Means.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4.7 The workflow on KNIME for the exploratory analysis and models.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4.8 Logistic regression based on k-means on KNIME.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4.9 Partitioning 60%-40% and 80%-20%.</a:t>
            </a:r>
          </a:p>
        </p:txBody>
      </p:sp>
    </p:spTree>
    <p:extLst>
      <p:ext uri="{BB962C8B-B14F-4D97-AF65-F5344CB8AC3E}">
        <p14:creationId xmlns:p14="http://schemas.microsoft.com/office/powerpoint/2010/main" val="1105151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CAA6-260E-4867-1C83-75DA4424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A0C5C9-BDAE-E2F4-D4FC-C10D4E83C806}"/>
              </a:ext>
            </a:extLst>
          </p:cNvPr>
          <p:cNvSpPr/>
          <p:nvPr/>
        </p:nvSpPr>
        <p:spPr>
          <a:xfrm>
            <a:off x="1868130" y="4741605"/>
            <a:ext cx="2821858" cy="1752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Logistic Regression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B4C7D8-7092-7D3A-B9CA-6FB069925618}"/>
              </a:ext>
            </a:extLst>
          </p:cNvPr>
          <p:cNvSpPr/>
          <p:nvPr/>
        </p:nvSpPr>
        <p:spPr>
          <a:xfrm>
            <a:off x="7806811" y="1496344"/>
            <a:ext cx="3431459" cy="23382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Random Forest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FA8C4-21E6-17CB-00B7-542137B8DBB1}"/>
              </a:ext>
            </a:extLst>
          </p:cNvPr>
          <p:cNvSpPr/>
          <p:nvPr/>
        </p:nvSpPr>
        <p:spPr>
          <a:xfrm>
            <a:off x="1691147" y="1520317"/>
            <a:ext cx="3814918" cy="2156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>
              <a:lnSpc>
                <a:spcPct val="115000"/>
              </a:lnSpc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Neural Network 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54593-A96E-987C-D45E-77036F02E687}"/>
              </a:ext>
            </a:extLst>
          </p:cNvPr>
          <p:cNvSpPr/>
          <p:nvPr/>
        </p:nvSpPr>
        <p:spPr>
          <a:xfrm>
            <a:off x="8268931" y="4395019"/>
            <a:ext cx="3775583" cy="20991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>
              <a:lnSpc>
                <a:spcPct val="115000"/>
              </a:lnSpc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802001-2A03-D942-B046-BC356023DEDF}"/>
              </a:ext>
            </a:extLst>
          </p:cNvPr>
          <p:cNvSpPr/>
          <p:nvPr/>
        </p:nvSpPr>
        <p:spPr>
          <a:xfrm>
            <a:off x="1769806" y="232281"/>
            <a:ext cx="8386917" cy="968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KNIME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2013DD-A9EB-D61E-810F-2325005BCB3A}"/>
              </a:ext>
            </a:extLst>
          </p:cNvPr>
          <p:cNvSpPr/>
          <p:nvPr/>
        </p:nvSpPr>
        <p:spPr>
          <a:xfrm>
            <a:off x="4876800" y="4745293"/>
            <a:ext cx="3087329" cy="1752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>
              <a:lnSpc>
                <a:spcPct val="115000"/>
              </a:lnSpc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</a:t>
            </a:r>
          </a:p>
        </p:txBody>
      </p:sp>
    </p:spTree>
    <p:extLst>
      <p:ext uri="{BB962C8B-B14F-4D97-AF65-F5344CB8AC3E}">
        <p14:creationId xmlns:p14="http://schemas.microsoft.com/office/powerpoint/2010/main" val="1260898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3EE8-7680-41D6-4A76-C1EDD6BD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35195"/>
            <a:ext cx="10018713" cy="1752599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78205-592B-5721-716B-B262D98B77A7}"/>
              </a:ext>
            </a:extLst>
          </p:cNvPr>
          <p:cNvSpPr txBox="1"/>
          <p:nvPr/>
        </p:nvSpPr>
        <p:spPr>
          <a:xfrm>
            <a:off x="1809136" y="1330051"/>
            <a:ext cx="10382864" cy="5149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Exploratory Analysis: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Visualizations: Bar charts, pie charts, scatter plots to explore relationships with employee turnover.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Correlation Analysis : Measures strength between dependent variables and turnover.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Predictive Modeling: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Predicts turnover likelihood 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Coefficients reveal most influential factors  </a:t>
            </a:r>
          </a:p>
          <a:p>
            <a:pPr marR="0" lvl="0">
              <a:lnSpc>
                <a:spcPct val="115000"/>
              </a:lnSpc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2.   Random Forest 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Captures non-linear relationships and interactions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5F9B5-C5FB-67E8-4308-E063AAB1E801}"/>
              </a:ext>
            </a:extLst>
          </p:cNvPr>
          <p:cNvSpPr txBox="1"/>
          <p:nvPr/>
        </p:nvSpPr>
        <p:spPr>
          <a:xfrm>
            <a:off x="2944760" y="319978"/>
            <a:ext cx="6808840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Types of Analysis Used</a:t>
            </a:r>
          </a:p>
        </p:txBody>
      </p:sp>
    </p:spTree>
    <p:extLst>
      <p:ext uri="{BB962C8B-B14F-4D97-AF65-F5344CB8AC3E}">
        <p14:creationId xmlns:p14="http://schemas.microsoft.com/office/powerpoint/2010/main" val="27913502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B716F8-7284-C65B-F576-2A58F7A937F9}"/>
              </a:ext>
            </a:extLst>
          </p:cNvPr>
          <p:cNvSpPr txBox="1"/>
          <p:nvPr/>
        </p:nvSpPr>
        <p:spPr>
          <a:xfrm>
            <a:off x="1858297" y="1514168"/>
            <a:ext cx="10156722" cy="451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</a:pPr>
            <a:r>
              <a:rPr lang="en-US" sz="20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Neural Network 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Advanced, deep learning technique for high-accuracy prediction </a:t>
            </a:r>
          </a:p>
          <a:p>
            <a:pPr marL="457200" marR="0" lvl="0" indent="-457200">
              <a:lnSpc>
                <a:spcPct val="115000"/>
              </a:lnSpc>
              <a:buAutoNum type="arabicPeriod" startAt="4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Offers interpretable structure and decision paths  </a:t>
            </a:r>
          </a:p>
          <a:p>
            <a:pPr marL="457200" marR="0" lvl="0" indent="-457200">
              <a:lnSpc>
                <a:spcPct val="115000"/>
              </a:lnSpc>
              <a:buAutoNum type="arabicPeriod" startAt="5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Experimental model to improve logistic regression using clustering segmentation 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Comparison: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Validation Method: Accuracy used to evaluate and compare all models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Goal: Identify the most effective model for predicting employee turnover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F44D0-0AF3-503B-EC7A-595665B534D9}"/>
              </a:ext>
            </a:extLst>
          </p:cNvPr>
          <p:cNvSpPr txBox="1"/>
          <p:nvPr/>
        </p:nvSpPr>
        <p:spPr>
          <a:xfrm>
            <a:off x="2738284" y="411294"/>
            <a:ext cx="6715432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Types of Analysis Used</a:t>
            </a:r>
          </a:p>
        </p:txBody>
      </p:sp>
    </p:spTree>
    <p:extLst>
      <p:ext uri="{BB962C8B-B14F-4D97-AF65-F5344CB8AC3E}">
        <p14:creationId xmlns:p14="http://schemas.microsoft.com/office/powerpoint/2010/main" val="218313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108816-3D73-41A5-F2A2-4529E3DC2325}"/>
              </a:ext>
            </a:extLst>
          </p:cNvPr>
          <p:cNvSpPr txBox="1"/>
          <p:nvPr/>
        </p:nvSpPr>
        <p:spPr>
          <a:xfrm>
            <a:off x="3180735" y="570271"/>
            <a:ext cx="5830529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850B8-CF4B-CE89-7529-D1181BE2A380}"/>
              </a:ext>
            </a:extLst>
          </p:cNvPr>
          <p:cNvSpPr txBox="1"/>
          <p:nvPr/>
        </p:nvSpPr>
        <p:spPr>
          <a:xfrm>
            <a:off x="2281084" y="1855155"/>
            <a:ext cx="9704439" cy="4710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 classification decision tree is built in memory.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Target attribute must be nominal.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attributes can be numerical or nominal.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Splitting Rules: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Numerical Splits: Always binary (2 partitions at a split point).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Nominal Splits: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Binary: Divides values into two groups.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Multi-way: One outcome per nominal value.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2400" b="1" kern="1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675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CDC978-B2F3-6E83-FC0D-11DAFEFF632D}"/>
              </a:ext>
            </a:extLst>
          </p:cNvPr>
          <p:cNvSpPr txBox="1"/>
          <p:nvPr/>
        </p:nvSpPr>
        <p:spPr>
          <a:xfrm>
            <a:off x="1907457" y="1710813"/>
            <a:ext cx="9930582" cy="4710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Split Quality Metrics: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Gini Index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Gain Ratio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Optimization Techniques: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Post-pruning using Minimum Description Length (MDL) principle to: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Reduce tree size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Improve accuracy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Performance: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Supports multi-threading for efficient use of multiple processors.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19BE3-55CB-47BC-E2DA-391EC6F199CC}"/>
              </a:ext>
            </a:extLst>
          </p:cNvPr>
          <p:cNvSpPr txBox="1"/>
          <p:nvPr/>
        </p:nvSpPr>
        <p:spPr>
          <a:xfrm>
            <a:off x="2998839" y="550606"/>
            <a:ext cx="4984955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Decision Tree</a:t>
            </a:r>
          </a:p>
        </p:txBody>
      </p:sp>
    </p:spTree>
    <p:extLst>
      <p:ext uri="{BB962C8B-B14F-4D97-AF65-F5344CB8AC3E}">
        <p14:creationId xmlns:p14="http://schemas.microsoft.com/office/powerpoint/2010/main" val="1367169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447D8D-D45E-231D-FD88-E52FDDFC394E}"/>
              </a:ext>
            </a:extLst>
          </p:cNvPr>
          <p:cNvSpPr txBox="1"/>
          <p:nvPr/>
        </p:nvSpPr>
        <p:spPr>
          <a:xfrm>
            <a:off x="2792361" y="217572"/>
            <a:ext cx="64597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Logistic Regression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5AA43-EDE5-7914-F137-3917CA95A046}"/>
              </a:ext>
            </a:extLst>
          </p:cNvPr>
          <p:cNvSpPr txBox="1"/>
          <p:nvPr/>
        </p:nvSpPr>
        <p:spPr>
          <a:xfrm>
            <a:off x="1543664" y="1232820"/>
            <a:ext cx="10550013" cy="586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Definition: Predicts the probability that a sample belongs to a given class (e.g., spam vs. not spam).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Mechanics: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Computes a weighted sum of input features plus a bias term.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Applies the logistic (sigmoid) function to map the sum into a probability between 0 and 1.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Training Objective: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Optimize parameters (weights &amp; bias) so that: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Correct classifications receive high probabilities.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Incorrect classifications receive low probabilities.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Advantages: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Produces class probability estimates, enhancing reliability and interpretability.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Versatile and widely used in both statistics and machine learning applications.  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endParaRPr lang="en-US" sz="2400" b="1" kern="1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42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BAD28-D5D5-DFDB-DAFD-476D874F0725}"/>
              </a:ext>
            </a:extLst>
          </p:cNvPr>
          <p:cNvSpPr txBox="1"/>
          <p:nvPr/>
        </p:nvSpPr>
        <p:spPr>
          <a:xfrm>
            <a:off x="3392129" y="265471"/>
            <a:ext cx="5358581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C233F0-1CC7-A215-7856-972B03684F55}"/>
              </a:ext>
            </a:extLst>
          </p:cNvPr>
          <p:cNvSpPr txBox="1"/>
          <p:nvPr/>
        </p:nvSpPr>
        <p:spPr>
          <a:xfrm>
            <a:off x="1474838" y="1307691"/>
            <a:ext cx="10717162" cy="5677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Versatile ensemble method for both classification and regression.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Builds multiple decision trees and aggregates their predictions.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Mechanics: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Bootstrap sampling: Each tree is trained on a random subset of rows (with replacement).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Feature sub setting: At each split, √m randomly chosen features are considered (m = total features).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Aggregation: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Classification: Majority vote across trees.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Regression: Average of tree predictions.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613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6E16-D1D1-A280-9213-2C092C99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14637B-3520-1E41-03D7-62150D06D662}"/>
              </a:ext>
            </a:extLst>
          </p:cNvPr>
          <p:cNvSpPr txBox="1"/>
          <p:nvPr/>
        </p:nvSpPr>
        <p:spPr>
          <a:xfrm>
            <a:off x="3392129" y="265471"/>
            <a:ext cx="5378245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EBD31-79A4-F7C7-1DB5-59870C028CBF}"/>
              </a:ext>
            </a:extLst>
          </p:cNvPr>
          <p:cNvSpPr txBox="1"/>
          <p:nvPr/>
        </p:nvSpPr>
        <p:spPr>
          <a:xfrm>
            <a:off x="2448233" y="1341422"/>
            <a:ext cx="8613058" cy="493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Advantages: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Reduces overfitting through randomness in data and features.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Handles high-dimensional datasets and resists noise.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Scalable to large data and supports varied feature types (bit, byte, double vectors).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Offers feature importance insights for interpretability.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Key Benefit: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Delivers robust, accurate predictions by combining the strengths of many decision trees.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89480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3D9870-81E3-8ACA-5CD1-003CA4E04837}"/>
              </a:ext>
            </a:extLst>
          </p:cNvPr>
          <p:cNvSpPr txBox="1"/>
          <p:nvPr/>
        </p:nvSpPr>
        <p:spPr>
          <a:xfrm>
            <a:off x="1120877" y="0"/>
            <a:ext cx="10854813" cy="160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Neural Network (Probabilistic Neural Network with DDA)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77061-3A66-BF69-4450-109A6379C49F}"/>
              </a:ext>
            </a:extLst>
          </p:cNvPr>
          <p:cNvSpPr txBox="1"/>
          <p:nvPr/>
        </p:nvSpPr>
        <p:spPr>
          <a:xfrm>
            <a:off x="1750142" y="1533832"/>
            <a:ext cx="10441858" cy="5560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Implements a Probabilistic Neural Network (PNN) trained via Dynamic Decay Adjustment (DDA).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Construction: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Rule representation: Each rule is a high-dimensional Gaussian function.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Thresholds: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θ⁻ and θ⁺ adjust Gaussians to prevent overlap between classes.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Gaussian parameters: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Center vector: From first covered instance.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Standard deviation: Dynamically tuned to include non-conflicting examples.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322632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C2C502-C618-3BDB-FB44-17AEB3A786A7}"/>
              </a:ext>
            </a:extLst>
          </p:cNvPr>
          <p:cNvSpPr txBox="1"/>
          <p:nvPr/>
        </p:nvSpPr>
        <p:spPr>
          <a:xfrm>
            <a:off x="1445341" y="1907456"/>
            <a:ext cx="10176388" cy="450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Data &amp; Targets: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Inputs: Selected numerical features.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Targets: Single binary class column or multiple “degree” columns (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range).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Training Output: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Generates a rule set and associated rule metrics.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Prediction Mechanism: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Matches each sample against generated rules and assigns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or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based on best rule 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858C5-4AF3-5E50-8A6B-BD6F726000B4}"/>
              </a:ext>
            </a:extLst>
          </p:cNvPr>
          <p:cNvSpPr txBox="1"/>
          <p:nvPr/>
        </p:nvSpPr>
        <p:spPr>
          <a:xfrm>
            <a:off x="1445341" y="98321"/>
            <a:ext cx="10176388" cy="160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Neural Network (Probabilistic Neural Network with DDA)</a:t>
            </a:r>
          </a:p>
        </p:txBody>
      </p:sp>
    </p:spTree>
    <p:extLst>
      <p:ext uri="{BB962C8B-B14F-4D97-AF65-F5344CB8AC3E}">
        <p14:creationId xmlns:p14="http://schemas.microsoft.com/office/powerpoint/2010/main" val="14067555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9E35A1-F696-6F3D-B08C-9581FFDF7F02}"/>
              </a:ext>
            </a:extLst>
          </p:cNvPr>
          <p:cNvSpPr txBox="1"/>
          <p:nvPr/>
        </p:nvSpPr>
        <p:spPr>
          <a:xfrm>
            <a:off x="2846439" y="226141"/>
            <a:ext cx="6499122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K-Means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B31C4-94FC-AFB4-EA16-197D67029560}"/>
              </a:ext>
            </a:extLst>
          </p:cNvPr>
          <p:cNvSpPr txBox="1"/>
          <p:nvPr/>
        </p:nvSpPr>
        <p:spPr>
          <a:xfrm>
            <a:off x="1740308" y="1423319"/>
            <a:ext cx="11080955" cy="4919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Unsupervised, crisp clustering assigning each data point to exactly one cluster.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Key Characteristics: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Predetermined k: Number of clusters set in advance.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Distance metric: Uses Euclidean distance to assign points to nearest centroid.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Iterative refinement: 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 1. Assign points to closest centroid 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 2. Recompute centroids based on current assignments 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 3. Repeat until assignments no longer change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Outcome: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Final cluster centers represent groups of similar data vectors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  </a:t>
            </a:r>
          </a:p>
        </p:txBody>
      </p:sp>
    </p:spTree>
    <p:extLst>
      <p:ext uri="{BB962C8B-B14F-4D97-AF65-F5344CB8AC3E}">
        <p14:creationId xmlns:p14="http://schemas.microsoft.com/office/powerpoint/2010/main" val="100415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FFAD-ECD4-A03A-8726-205A0686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0B89DE-AF9C-9C92-73B6-2025846EB695}"/>
              </a:ext>
            </a:extLst>
          </p:cNvPr>
          <p:cNvSpPr txBox="1"/>
          <p:nvPr/>
        </p:nvSpPr>
        <p:spPr>
          <a:xfrm>
            <a:off x="3519948" y="324464"/>
            <a:ext cx="3785420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KNIME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0FE7D-69EC-D123-19FA-0C5069999D1E}"/>
              </a:ext>
            </a:extLst>
          </p:cNvPr>
          <p:cNvSpPr txBox="1"/>
          <p:nvPr/>
        </p:nvSpPr>
        <p:spPr>
          <a:xfrm>
            <a:off x="2595715" y="2064774"/>
            <a:ext cx="7747819" cy="324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This project was mostly done on KNIME.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What is KNIME?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KNIME is a Visual workflow interface and an open-source platform used for data preprocessing, exploratory data analysis, machine learning, and data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16310865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8D98DD-B366-15A0-233A-BC715974249D}"/>
              </a:ext>
            </a:extLst>
          </p:cNvPr>
          <p:cNvSpPr txBox="1"/>
          <p:nvPr/>
        </p:nvSpPr>
        <p:spPr>
          <a:xfrm>
            <a:off x="1514167" y="88490"/>
            <a:ext cx="9429135" cy="160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models.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35CFA64-2EB2-F560-09F5-F50D3ED37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234" y="1769744"/>
            <a:ext cx="7938824" cy="41459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C4C9D1-9ADF-CF15-1A91-6F55BCCBF7CE}"/>
              </a:ext>
            </a:extLst>
          </p:cNvPr>
          <p:cNvSpPr txBox="1"/>
          <p:nvPr/>
        </p:nvSpPr>
        <p:spPr>
          <a:xfrm>
            <a:off x="3411794" y="6194323"/>
            <a:ext cx="5643716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6: Workflow on KNIME.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8911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103224-B8A6-C14A-E5F4-3F7BAF0C18D6}"/>
              </a:ext>
            </a:extLst>
          </p:cNvPr>
          <p:cNvSpPr txBox="1"/>
          <p:nvPr/>
        </p:nvSpPr>
        <p:spPr>
          <a:xfrm>
            <a:off x="1474838" y="98324"/>
            <a:ext cx="10618840" cy="1466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73DE8-394F-5B4E-1537-0E76275925FF}"/>
              </a:ext>
            </a:extLst>
          </p:cNvPr>
          <p:cNvSpPr txBox="1"/>
          <p:nvPr/>
        </p:nvSpPr>
        <p:spPr>
          <a:xfrm>
            <a:off x="2507226" y="1410611"/>
            <a:ext cx="10087897" cy="5447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Initial Steps: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CSV  Reader Node for input data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Rule Engine Node: Converted “left” values from yes/no to 0/1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Visualization Tools Used: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Statistics Node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Pie Chart Node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Bar Chart, Scatter Plot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Color Manager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Normalizer Node: Scaled numerical variables (range 0 to 1)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Missing Value Node: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Numerical: Mean replacement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Categorical: Replaced with “None”</a:t>
            </a:r>
          </a:p>
        </p:txBody>
      </p:sp>
    </p:spTree>
    <p:extLst>
      <p:ext uri="{BB962C8B-B14F-4D97-AF65-F5344CB8AC3E}">
        <p14:creationId xmlns:p14="http://schemas.microsoft.com/office/powerpoint/2010/main" val="20775796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BB11B6-33CC-76D2-F9A9-C4152FF7F220}"/>
              </a:ext>
            </a:extLst>
          </p:cNvPr>
          <p:cNvSpPr txBox="1"/>
          <p:nvPr/>
        </p:nvSpPr>
        <p:spPr>
          <a:xfrm>
            <a:off x="1396181" y="137653"/>
            <a:ext cx="105991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207E4-FB62-A010-2870-D266D88EEEAE}"/>
              </a:ext>
            </a:extLst>
          </p:cNvPr>
          <p:cNvSpPr txBox="1"/>
          <p:nvPr/>
        </p:nvSpPr>
        <p:spPr>
          <a:xfrm>
            <a:off x="1828800" y="2075144"/>
            <a:ext cx="9733935" cy="440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Correlation Analysis: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Linear Correlation Node used after converting “left” to numeric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Data Conversion for Modeling: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Number to String Node: Converted “left” to categorical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Partitioning: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Partitioning Node Settings: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% Training,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% Testing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Stratified sampling based on “left” (to preserve class distribution)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92808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BC8A40-EE05-3FB1-8544-153CBA91ADFF}"/>
              </a:ext>
            </a:extLst>
          </p:cNvPr>
          <p:cNvSpPr txBox="1"/>
          <p:nvPr/>
        </p:nvSpPr>
        <p:spPr>
          <a:xfrm>
            <a:off x="924233" y="127819"/>
            <a:ext cx="115234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E0D5D-6383-F6D0-3468-D151A28ACBA5}"/>
              </a:ext>
            </a:extLst>
          </p:cNvPr>
          <p:cNvSpPr txBox="1"/>
          <p:nvPr/>
        </p:nvSpPr>
        <p:spPr>
          <a:xfrm>
            <a:off x="2035278" y="1779639"/>
            <a:ext cx="10156722" cy="5272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Workflow Branches into four Paths: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Path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SMOTE Node: Fixes class imbalance using k=5 nearest neighbors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Learner (70%)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Predictor (30%)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Scorer Node: Accuracy + Confusion Matrix</a:t>
            </a:r>
          </a:p>
          <a:p>
            <a:pPr marR="0" lvl="0">
              <a:lnSpc>
                <a:spcPct val="115000"/>
              </a:lnSpc>
            </a:pP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2. 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Path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SMOTE Node (again)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Learner (70%)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Predictor (30%)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Scorer Node: Accuracy + Confusion Matrix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19175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B641E-649D-4F93-F800-2ACA7143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0A341-F947-03E9-E922-0708E78B87C4}"/>
              </a:ext>
            </a:extLst>
          </p:cNvPr>
          <p:cNvSpPr txBox="1"/>
          <p:nvPr/>
        </p:nvSpPr>
        <p:spPr>
          <a:xfrm>
            <a:off x="1122103" y="0"/>
            <a:ext cx="10798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54876-EF68-BB2F-E2EC-75D87BBD3820}"/>
              </a:ext>
            </a:extLst>
          </p:cNvPr>
          <p:cNvSpPr txBox="1"/>
          <p:nvPr/>
        </p:nvSpPr>
        <p:spPr>
          <a:xfrm>
            <a:off x="1735391" y="1742530"/>
            <a:ext cx="10535265" cy="4505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3-PNN: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PNN (Probabilistic Neural Network) Branch: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After data partitioning, a third modeling path was added using a PNN Learner (DDA).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SMOTE applied to address class imbalance in training data.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PNN used a memory-based classification approach via probability density estimation in multidimensional space.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PNN Predictor tested the model on the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% partition.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Scorer Node evaluated accuracy, precision, recall, and confusion matrix.</a:t>
            </a:r>
          </a:p>
        </p:txBody>
      </p:sp>
    </p:spTree>
    <p:extLst>
      <p:ext uri="{BB962C8B-B14F-4D97-AF65-F5344CB8AC3E}">
        <p14:creationId xmlns:p14="http://schemas.microsoft.com/office/powerpoint/2010/main" val="39142856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E46B-6F78-3AC4-BF51-D237482A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280829-BF67-5808-EAF8-EE756AC545D2}"/>
              </a:ext>
            </a:extLst>
          </p:cNvPr>
          <p:cNvSpPr txBox="1"/>
          <p:nvPr/>
        </p:nvSpPr>
        <p:spPr>
          <a:xfrm>
            <a:off x="1052051" y="117987"/>
            <a:ext cx="111399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C561C-B2C4-940E-B9CB-5675B9B202F3}"/>
              </a:ext>
            </a:extLst>
          </p:cNvPr>
          <p:cNvSpPr txBox="1"/>
          <p:nvPr/>
        </p:nvSpPr>
        <p:spPr>
          <a:xfrm>
            <a:off x="2959510" y="1487613"/>
            <a:ext cx="6558116" cy="525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4-Decision Tree: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Also used SMOTE on training data to handle imbalance.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 Learner built the classification model.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 Predictor applied model to test set.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 View (JavaScript) enabled interactive visualization of the decision paths.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Scorer Node assessed model performance using standard metrics.</a:t>
            </a:r>
          </a:p>
        </p:txBody>
      </p:sp>
    </p:spTree>
    <p:extLst>
      <p:ext uri="{BB962C8B-B14F-4D97-AF65-F5344CB8AC3E}">
        <p14:creationId xmlns:p14="http://schemas.microsoft.com/office/powerpoint/2010/main" val="637000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1D52-0504-C7C8-D63F-22AF2A78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7BF8C7-A5C9-4930-2C5A-065477755835}"/>
              </a:ext>
            </a:extLst>
          </p:cNvPr>
          <p:cNvSpPr txBox="1"/>
          <p:nvPr/>
        </p:nvSpPr>
        <p:spPr>
          <a:xfrm>
            <a:off x="1455175" y="147484"/>
            <a:ext cx="106090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The workflow on KNIME for the expletory analysis and models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0FD4C-C7EC-7F51-9748-CD22024C2776}"/>
              </a:ext>
            </a:extLst>
          </p:cNvPr>
          <p:cNvSpPr txBox="1"/>
          <p:nvPr/>
        </p:nvSpPr>
        <p:spPr>
          <a:xfrm>
            <a:off x="2094271" y="2016821"/>
            <a:ext cx="8681884" cy="4511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Imbalanced Data Problem: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“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has_left_company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” variable was imbalanced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SMOTE (Synthetic Minority Over-sampling Technique) used for oversampling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SMOTE Settings in KNIME: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Uses 5 nearest neighbors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Oversamples minority class only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Improves training set balance and model performance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245763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8298-098E-C751-D463-0DF6232D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1E9D1-CD1C-7543-F584-6E6DB6FF4307}"/>
              </a:ext>
            </a:extLst>
          </p:cNvPr>
          <p:cNvSpPr txBox="1"/>
          <p:nvPr/>
        </p:nvSpPr>
        <p:spPr>
          <a:xfrm>
            <a:off x="1828800" y="78657"/>
            <a:ext cx="92816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4BEF70CD-2A58-7D0F-1E04-95BE5F9A3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447" y="1817338"/>
            <a:ext cx="8605798" cy="37184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5F4B82-199F-0069-DD9D-A82240538B70}"/>
              </a:ext>
            </a:extLst>
          </p:cNvPr>
          <p:cNvSpPr txBox="1"/>
          <p:nvPr/>
        </p:nvSpPr>
        <p:spPr>
          <a:xfrm>
            <a:off x="2242738" y="5827907"/>
            <a:ext cx="8199120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7: KNIME workflow of performing K-Means.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0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5E78-1267-60D9-C14C-8B927071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308C86-3D86-771E-6626-F2110C75E612}"/>
              </a:ext>
            </a:extLst>
          </p:cNvPr>
          <p:cNvSpPr txBox="1"/>
          <p:nvPr/>
        </p:nvSpPr>
        <p:spPr>
          <a:xfrm>
            <a:off x="1553497" y="127819"/>
            <a:ext cx="97142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0C471-41D2-25CD-FD2A-8CF0ADFF0680}"/>
              </a:ext>
            </a:extLst>
          </p:cNvPr>
          <p:cNvSpPr txBox="1"/>
          <p:nvPr/>
        </p:nvSpPr>
        <p:spPr>
          <a:xfrm>
            <a:off x="2251588" y="1692356"/>
            <a:ext cx="10176387" cy="4710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1. Data Import &amp; Preprocessing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Loaded HR dataset (CSV Reader)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Converted numerical to categorical (Number to String)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Split data (Partitioning)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2. Exploratory Data Analysis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Generated summary statistics (Statistics Node)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3. Clustering with k-Means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Performed clustering (k-Means Node)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Assigned cluster labels (Cluster Assigner)</a:t>
            </a:r>
          </a:p>
        </p:txBody>
      </p:sp>
    </p:spTree>
    <p:extLst>
      <p:ext uri="{BB962C8B-B14F-4D97-AF65-F5344CB8AC3E}">
        <p14:creationId xmlns:p14="http://schemas.microsoft.com/office/powerpoint/2010/main" val="18319383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69A6-5576-A942-FF19-C57A7B3C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169DC-C21F-15D2-66EA-6FC033718215}"/>
              </a:ext>
            </a:extLst>
          </p:cNvPr>
          <p:cNvSpPr txBox="1"/>
          <p:nvPr/>
        </p:nvSpPr>
        <p:spPr>
          <a:xfrm>
            <a:off x="1582993" y="530942"/>
            <a:ext cx="948812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7A9943-A9F8-F82E-C045-C02373E57E7C}"/>
              </a:ext>
            </a:extLst>
          </p:cNvPr>
          <p:cNvSpPr txBox="1"/>
          <p:nvPr/>
        </p:nvSpPr>
        <p:spPr>
          <a:xfrm>
            <a:off x="2625212" y="2595716"/>
            <a:ext cx="6882581" cy="354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4. Visualization &amp; Evaluation 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Visual styling (Color &amp; Shape Manager)  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Scatter plots (JavaScript &amp; </a:t>
            </a:r>
            <a:r>
              <a:rPr lang="en-US" sz="28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JFreeChart</a:t>
            </a: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  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quality: Silhouette Coefficient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Exporting Results</a:t>
            </a:r>
          </a:p>
          <a:p>
            <a:pPr marL="457200" marR="0" lvl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Saved grouped data (Excel Writer</a:t>
            </a:r>
            <a:r>
              <a:rPr lang="en-US" sz="1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103249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7A08-9884-0568-EEDC-779B4239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FB22C8-8444-B18D-0BC5-3BD8145DF596}"/>
              </a:ext>
            </a:extLst>
          </p:cNvPr>
          <p:cNvSpPr txBox="1"/>
          <p:nvPr/>
        </p:nvSpPr>
        <p:spPr>
          <a:xfrm>
            <a:off x="1455174" y="157316"/>
            <a:ext cx="97732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F0B602A1-5E41-3590-D6AE-8B0C34609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221" y="1807296"/>
            <a:ext cx="7273915" cy="35998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31B29E-E89F-A4F6-85FC-C3535B6AD9B2}"/>
              </a:ext>
            </a:extLst>
          </p:cNvPr>
          <p:cNvSpPr txBox="1"/>
          <p:nvPr/>
        </p:nvSpPr>
        <p:spPr>
          <a:xfrm>
            <a:off x="2263057" y="5610614"/>
            <a:ext cx="8680245" cy="99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8: KNIME workflow of performing Logistic Regression based on K-Means.</a:t>
            </a:r>
          </a:p>
        </p:txBody>
      </p:sp>
    </p:spTree>
    <p:extLst>
      <p:ext uri="{BB962C8B-B14F-4D97-AF65-F5344CB8AC3E}">
        <p14:creationId xmlns:p14="http://schemas.microsoft.com/office/powerpoint/2010/main" val="9825960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07AF-72AD-D83D-4A87-96CBF050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C496F-C469-6059-E5D5-7F37FEE1CBB2}"/>
              </a:ext>
            </a:extLst>
          </p:cNvPr>
          <p:cNvSpPr txBox="1"/>
          <p:nvPr/>
        </p:nvSpPr>
        <p:spPr>
          <a:xfrm>
            <a:off x="1602658" y="127819"/>
            <a:ext cx="975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97DF2-1863-7667-2A3D-FA857EBD880A}"/>
              </a:ext>
            </a:extLst>
          </p:cNvPr>
          <p:cNvSpPr txBox="1"/>
          <p:nvPr/>
        </p:nvSpPr>
        <p:spPr>
          <a:xfrm>
            <a:off x="1848465" y="1661651"/>
            <a:ext cx="10343535" cy="5806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 Data Input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CSV Reader (Node 1): Trained data used (K-Means applied), testing data added later (Node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69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 for consistency across models.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2. Preprocessing Steps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Row Filtering (Nodes 4, 5, etc.):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Isolate clusters (e.g., keep only Cluster 0, 1, or 2 per branch) 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Remove Redundant Columns: Constant Value Column Filter (Nodes 52, 60, etc.) 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Format Adjustments: Number to String conversion (Nodes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50, 58, 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etc.) 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Normalization: Scale numeric data for modeling (Nodes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51, 59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etc.) 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Class Balancing: Apply SMOTE for synthetic oversampling of minority class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389203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A77D-3698-2AB5-5A39-2C6C6678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544DE-052B-4BCA-724E-C5E51AE7D3D0}"/>
              </a:ext>
            </a:extLst>
          </p:cNvPr>
          <p:cNvSpPr txBox="1"/>
          <p:nvPr/>
        </p:nvSpPr>
        <p:spPr>
          <a:xfrm>
            <a:off x="1504335" y="216310"/>
            <a:ext cx="97830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on KNIME</a:t>
            </a:r>
            <a:endParaRPr lang="en-US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BF9AC-E184-DD5F-36F4-E245E56FD3C3}"/>
              </a:ext>
            </a:extLst>
          </p:cNvPr>
          <p:cNvSpPr txBox="1"/>
          <p:nvPr/>
        </p:nvSpPr>
        <p:spPr>
          <a:xfrm>
            <a:off x="1504335" y="1662860"/>
            <a:ext cx="8809703" cy="4785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3. Testing Data Setup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CSV Reader (Node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69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):Recall consistent testing data from earlier step 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Partitioning: Split for model training and evaluation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4. Model Training 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Learner (Nodes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53, 74)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Train model on cleaned, clustered, and balanced data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Prediction &amp; Evaluation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Predictor (Nodes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47, 72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Scorer Nodes (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48, 56, 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etc.): Evaluate prediction accuracy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This workflow tries to enhance logistic regression’s accuracy by segmenting data with k-means clustering.</a:t>
            </a:r>
          </a:p>
        </p:txBody>
      </p:sp>
    </p:spTree>
    <p:extLst>
      <p:ext uri="{BB962C8B-B14F-4D97-AF65-F5344CB8AC3E}">
        <p14:creationId xmlns:p14="http://schemas.microsoft.com/office/powerpoint/2010/main" val="30795106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29B4-A5CB-5AB8-BFE7-7314F4A3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6AEC1-262E-D40F-6C26-2EF300B2271A}"/>
              </a:ext>
            </a:extLst>
          </p:cNvPr>
          <p:cNvSpPr txBox="1"/>
          <p:nvPr/>
        </p:nvSpPr>
        <p:spPr>
          <a:xfrm>
            <a:off x="2035276" y="325404"/>
            <a:ext cx="8937523" cy="158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Partitioning </a:t>
            </a: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60%-40% </a:t>
            </a: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and </a:t>
            </a:r>
            <a:r>
              <a:rPr lang="en-US" sz="4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80%-20%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BE1B1-57C7-ED86-67AC-D261B7E8978F}"/>
              </a:ext>
            </a:extLst>
          </p:cNvPr>
          <p:cNvSpPr txBox="1"/>
          <p:nvPr/>
        </p:nvSpPr>
        <p:spPr>
          <a:xfrm>
            <a:off x="2359741" y="1315255"/>
            <a:ext cx="8288594" cy="5354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Objective: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To make sure that partitioning ratios do not bias model accuracy comparisons for models’ employee turnover prediction.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Methodology: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Reused identical workflows and settings as established earlier.  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Conducted two additional experiments with different data splits: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60%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training /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40%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testing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80%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training /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20%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16675470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DECEB-AD71-8F02-B504-FBBA947ACAD9}"/>
              </a:ext>
            </a:extLst>
          </p:cNvPr>
          <p:cNvSpPr txBox="1"/>
          <p:nvPr/>
        </p:nvSpPr>
        <p:spPr>
          <a:xfrm>
            <a:off x="2782529" y="760641"/>
            <a:ext cx="8740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E" sz="4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Chapter 5: Models and </a:t>
            </a:r>
            <a:r>
              <a:rPr lang="en-AE" sz="4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Results.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156F8-2850-9D1F-3FBE-BD84E5045F24}"/>
              </a:ext>
            </a:extLst>
          </p:cNvPr>
          <p:cNvSpPr txBox="1"/>
          <p:nvPr/>
        </p:nvSpPr>
        <p:spPr>
          <a:xfrm>
            <a:off x="2782529" y="2182761"/>
            <a:ext cx="8465574" cy="391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5.1 Logistic Regression Results.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5.2 Random Forest results.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5.3 Decision Tree.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5.4 K-Means.</a:t>
            </a:r>
            <a:endParaRPr lang="en-US" sz="2800" b="1" kern="100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>
                <a:effectLst/>
                <a:ea typeface="Aptos" panose="020B0004020202020204" pitchFamily="34" charset="0"/>
                <a:cs typeface="Arial" panose="020B0604020202020204" pitchFamily="34" charset="0"/>
              </a:rPr>
              <a:t>5.5 </a:t>
            </a: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Neural Network.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5.6 Logistic Regression based on K-Means Results.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5.7 Models Comparison.</a:t>
            </a:r>
            <a:endParaRPr lang="en-US" sz="28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559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AF9F9-9B41-08A8-8868-5802F2CF192E}"/>
              </a:ext>
            </a:extLst>
          </p:cNvPr>
          <p:cNvSpPr txBox="1"/>
          <p:nvPr/>
        </p:nvSpPr>
        <p:spPr>
          <a:xfrm>
            <a:off x="1484671" y="314632"/>
            <a:ext cx="105205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Coefficients</a:t>
            </a:r>
          </a:p>
          <a:p>
            <a:pPr algn="ctr"/>
            <a:r>
              <a:rPr lang="en-AE" sz="4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4400" dirty="0"/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1F04CC81-7652-C479-6A64-075F5EFF0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319" y="1390568"/>
            <a:ext cx="6983361" cy="42586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E64B66-2E6A-A7A7-FD3D-50F1CDAF8AA7}"/>
              </a:ext>
            </a:extLst>
          </p:cNvPr>
          <p:cNvSpPr txBox="1"/>
          <p:nvPr/>
        </p:nvSpPr>
        <p:spPr>
          <a:xfrm>
            <a:off x="2256502" y="5678195"/>
            <a:ext cx="7678994" cy="86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9: Coefficients of the variables of logistic regression model.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8654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E1B68-D3F1-3253-E4C8-529ADC022291}"/>
              </a:ext>
            </a:extLst>
          </p:cNvPr>
          <p:cNvSpPr txBox="1"/>
          <p:nvPr/>
        </p:nvSpPr>
        <p:spPr>
          <a:xfrm>
            <a:off x="1971367" y="609600"/>
            <a:ext cx="8249265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Coefficients.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BFBFC-BC32-9E71-A70C-105551ABDC8F}"/>
              </a:ext>
            </a:extLst>
          </p:cNvPr>
          <p:cNvSpPr txBox="1"/>
          <p:nvPr/>
        </p:nvSpPr>
        <p:spPr>
          <a:xfrm>
            <a:off x="1376516" y="1917290"/>
            <a:ext cx="9842091" cy="462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ny numerical variable with p-value &lt; 0.05 should be excluded from the model.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Marketing, Product Management, and Sales departments have p-values &lt; 0.05. They are not going to be removed because Department variable had some categories lower than p-values &lt; 0.05 (provides useful information)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Higher coefficients = higher importance.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Most important variable is Years at Company with a coefficient of 4.329.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673641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81248-292C-8C6F-8586-593A817BDC8D}"/>
              </a:ext>
            </a:extLst>
          </p:cNvPr>
          <p:cNvSpPr txBox="1"/>
          <p:nvPr/>
        </p:nvSpPr>
        <p:spPr>
          <a:xfrm>
            <a:off x="1504333" y="136733"/>
            <a:ext cx="9733936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Employee Turnover Prediction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06AE76-3EBE-76A5-252B-D71185849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962982"/>
              </p:ext>
            </p:extLst>
          </p:nvPr>
        </p:nvGraphicFramePr>
        <p:xfrm>
          <a:off x="1976284" y="1620444"/>
          <a:ext cx="6829246" cy="11513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6163">
                  <a:extLst>
                    <a:ext uri="{9D8B030D-6E8A-4147-A177-3AD203B41FA5}">
                      <a16:colId xmlns:a16="http://schemas.microsoft.com/office/drawing/2014/main" val="2796517171"/>
                    </a:ext>
                  </a:extLst>
                </a:gridCol>
                <a:gridCol w="2276163">
                  <a:extLst>
                    <a:ext uri="{9D8B030D-6E8A-4147-A177-3AD203B41FA5}">
                      <a16:colId xmlns:a16="http://schemas.microsoft.com/office/drawing/2014/main" val="1200045789"/>
                    </a:ext>
                  </a:extLst>
                </a:gridCol>
                <a:gridCol w="2276920">
                  <a:extLst>
                    <a:ext uri="{9D8B030D-6E8A-4147-A177-3AD203B41FA5}">
                      <a16:colId xmlns:a16="http://schemas.microsoft.com/office/drawing/2014/main" val="2771849029"/>
                    </a:ext>
                  </a:extLst>
                </a:gridCol>
              </a:tblGrid>
              <a:tr h="3837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990653"/>
                  </a:ext>
                </a:extLst>
              </a:tr>
              <a:tr h="3837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828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4660270"/>
                  </a:ext>
                </a:extLst>
              </a:tr>
              <a:tr h="3837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2601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616748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4FD7B69-ABCE-2318-2331-F1EBA303D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0495" y="3624812"/>
            <a:ext cx="21833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40E01-A217-9895-7831-AAB920131EED}"/>
              </a:ext>
            </a:extLst>
          </p:cNvPr>
          <p:cNvSpPr txBox="1"/>
          <p:nvPr/>
        </p:nvSpPr>
        <p:spPr>
          <a:xfrm>
            <a:off x="1976284" y="1122383"/>
            <a:ext cx="4119716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3: Confusion Matrix.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6F7BB-77B2-246B-69B0-5453E32833F3}"/>
              </a:ext>
            </a:extLst>
          </p:cNvPr>
          <p:cNvSpPr txBox="1"/>
          <p:nvPr/>
        </p:nvSpPr>
        <p:spPr>
          <a:xfrm>
            <a:off x="1976284" y="2908900"/>
            <a:ext cx="4139380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4: Accuracy scores.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344F7B-7FCF-6EB6-3018-FD1E50916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043108"/>
              </p:ext>
            </p:extLst>
          </p:nvPr>
        </p:nvGraphicFramePr>
        <p:xfrm>
          <a:off x="1976284" y="3378900"/>
          <a:ext cx="9065344" cy="219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3482">
                  <a:extLst>
                    <a:ext uri="{9D8B030D-6E8A-4147-A177-3AD203B41FA5}">
                      <a16:colId xmlns:a16="http://schemas.microsoft.com/office/drawing/2014/main" val="4056495378"/>
                    </a:ext>
                  </a:extLst>
                </a:gridCol>
                <a:gridCol w="823482">
                  <a:extLst>
                    <a:ext uri="{9D8B030D-6E8A-4147-A177-3AD203B41FA5}">
                      <a16:colId xmlns:a16="http://schemas.microsoft.com/office/drawing/2014/main" val="2887178657"/>
                    </a:ext>
                  </a:extLst>
                </a:gridCol>
                <a:gridCol w="823482">
                  <a:extLst>
                    <a:ext uri="{9D8B030D-6E8A-4147-A177-3AD203B41FA5}">
                      <a16:colId xmlns:a16="http://schemas.microsoft.com/office/drawing/2014/main" val="3499166183"/>
                    </a:ext>
                  </a:extLst>
                </a:gridCol>
                <a:gridCol w="823482">
                  <a:extLst>
                    <a:ext uri="{9D8B030D-6E8A-4147-A177-3AD203B41FA5}">
                      <a16:colId xmlns:a16="http://schemas.microsoft.com/office/drawing/2014/main" val="468342066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4285970606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3363361221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3003979921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1408288967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2384506811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1898794944"/>
                    </a:ext>
                  </a:extLst>
                </a:gridCol>
                <a:gridCol w="824488">
                  <a:extLst>
                    <a:ext uri="{9D8B030D-6E8A-4147-A177-3AD203B41FA5}">
                      <a16:colId xmlns:a16="http://schemas.microsoft.com/office/drawing/2014/main" val="2638408595"/>
                    </a:ext>
                  </a:extLst>
                </a:gridCol>
              </a:tblGrid>
              <a:tr h="6401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8299472"/>
                  </a:ext>
                </a:extLst>
              </a:tr>
              <a:tr h="2341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3984002"/>
                  </a:ext>
                </a:extLst>
              </a:tr>
              <a:tr h="2341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9845791"/>
                  </a:ext>
                </a:extLst>
              </a:tr>
              <a:tr h="2341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0.775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181811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322A563-18EA-3A20-38F4-3FE21900DB82}"/>
              </a:ext>
            </a:extLst>
          </p:cNvPr>
          <p:cNvSpPr txBox="1"/>
          <p:nvPr/>
        </p:nvSpPr>
        <p:spPr>
          <a:xfrm>
            <a:off x="2320412" y="5625673"/>
            <a:ext cx="8337755" cy="91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Table 3 and Table 4 show that the model has 77.5% accuracy in predicting employees Turnover.</a:t>
            </a:r>
          </a:p>
        </p:txBody>
      </p:sp>
    </p:spTree>
    <p:extLst>
      <p:ext uri="{BB962C8B-B14F-4D97-AF65-F5344CB8AC3E}">
        <p14:creationId xmlns:p14="http://schemas.microsoft.com/office/powerpoint/2010/main" val="35714551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DFE1F-C789-4F25-8EAA-346B73E5CFAA}"/>
              </a:ext>
            </a:extLst>
          </p:cNvPr>
          <p:cNvSpPr txBox="1"/>
          <p:nvPr/>
        </p:nvSpPr>
        <p:spPr>
          <a:xfrm>
            <a:off x="1356852" y="334297"/>
            <a:ext cx="7875639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</a:t>
            </a:r>
            <a:endParaRPr lang="en-US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29C81-80BF-A702-4DE0-DEF4EE5F054E}"/>
              </a:ext>
            </a:extLst>
          </p:cNvPr>
          <p:cNvSpPr txBox="1"/>
          <p:nvPr/>
        </p:nvSpPr>
        <p:spPr>
          <a:xfrm>
            <a:off x="1828800" y="2104104"/>
            <a:ext cx="8534400" cy="3128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All independent variables included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Split criterion: Gini Index (measures node impurity)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Tree depth: Maximum of 12 levels (to prevent overfitting)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Minimum samples per leaf node: 5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Number of trees: 200 (balanced performance and cost)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Reproducibility: Static random seed used</a:t>
            </a:r>
          </a:p>
        </p:txBody>
      </p:sp>
    </p:spTree>
    <p:extLst>
      <p:ext uri="{BB962C8B-B14F-4D97-AF65-F5344CB8AC3E}">
        <p14:creationId xmlns:p14="http://schemas.microsoft.com/office/powerpoint/2010/main" val="3736015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3ED11C-9A22-1888-B000-04000CF99AE2}"/>
              </a:ext>
            </a:extLst>
          </p:cNvPr>
          <p:cNvSpPr txBox="1"/>
          <p:nvPr/>
        </p:nvSpPr>
        <p:spPr>
          <a:xfrm>
            <a:off x="1818968" y="589936"/>
            <a:ext cx="6489290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Results</a:t>
            </a:r>
            <a:endParaRPr lang="en-US" sz="18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E9D9F-64D2-5E62-2BC0-91F9C942F7BE}"/>
              </a:ext>
            </a:extLst>
          </p:cNvPr>
          <p:cNvSpPr txBox="1"/>
          <p:nvPr/>
        </p:nvSpPr>
        <p:spPr>
          <a:xfrm>
            <a:off x="2513636" y="5941146"/>
            <a:ext cx="9117925" cy="91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Tables 5 and 6 show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98.2%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 in predicting employee turnover.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C502F9-D1E4-D609-B11B-517E1ADFA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434705"/>
              </p:ext>
            </p:extLst>
          </p:nvPr>
        </p:nvGraphicFramePr>
        <p:xfrm>
          <a:off x="1939941" y="1853965"/>
          <a:ext cx="6014356" cy="1094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4563">
                  <a:extLst>
                    <a:ext uri="{9D8B030D-6E8A-4147-A177-3AD203B41FA5}">
                      <a16:colId xmlns:a16="http://schemas.microsoft.com/office/drawing/2014/main" val="1519113197"/>
                    </a:ext>
                  </a:extLst>
                </a:gridCol>
                <a:gridCol w="2004563">
                  <a:extLst>
                    <a:ext uri="{9D8B030D-6E8A-4147-A177-3AD203B41FA5}">
                      <a16:colId xmlns:a16="http://schemas.microsoft.com/office/drawing/2014/main" val="1468833547"/>
                    </a:ext>
                  </a:extLst>
                </a:gridCol>
                <a:gridCol w="2005230">
                  <a:extLst>
                    <a:ext uri="{9D8B030D-6E8A-4147-A177-3AD203B41FA5}">
                      <a16:colId xmlns:a16="http://schemas.microsoft.com/office/drawing/2014/main" val="680739722"/>
                    </a:ext>
                  </a:extLst>
                </a:gridCol>
              </a:tblGrid>
              <a:tr h="2750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5082299"/>
                  </a:ext>
                </a:extLst>
              </a:tr>
              <a:tr h="2750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1013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7961434"/>
                  </a:ext>
                </a:extLst>
              </a:tr>
              <a:tr h="2750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3405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61454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782385-846E-6BFF-BE5B-D126EF0F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584569"/>
              </p:ext>
            </p:extLst>
          </p:nvPr>
        </p:nvGraphicFramePr>
        <p:xfrm>
          <a:off x="1939941" y="3591467"/>
          <a:ext cx="9327831" cy="219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7326">
                  <a:extLst>
                    <a:ext uri="{9D8B030D-6E8A-4147-A177-3AD203B41FA5}">
                      <a16:colId xmlns:a16="http://schemas.microsoft.com/office/drawing/2014/main" val="2209881564"/>
                    </a:ext>
                  </a:extLst>
                </a:gridCol>
                <a:gridCol w="847326">
                  <a:extLst>
                    <a:ext uri="{9D8B030D-6E8A-4147-A177-3AD203B41FA5}">
                      <a16:colId xmlns:a16="http://schemas.microsoft.com/office/drawing/2014/main" val="1574811746"/>
                    </a:ext>
                  </a:extLst>
                </a:gridCol>
                <a:gridCol w="847326">
                  <a:extLst>
                    <a:ext uri="{9D8B030D-6E8A-4147-A177-3AD203B41FA5}">
                      <a16:colId xmlns:a16="http://schemas.microsoft.com/office/drawing/2014/main" val="4212184507"/>
                    </a:ext>
                  </a:extLst>
                </a:gridCol>
                <a:gridCol w="847326">
                  <a:extLst>
                    <a:ext uri="{9D8B030D-6E8A-4147-A177-3AD203B41FA5}">
                      <a16:colId xmlns:a16="http://schemas.microsoft.com/office/drawing/2014/main" val="1915793496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1095462501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851613590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1834652667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1533459240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2054353539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1965225548"/>
                    </a:ext>
                  </a:extLst>
                </a:gridCol>
                <a:gridCol w="848361">
                  <a:extLst>
                    <a:ext uri="{9D8B030D-6E8A-4147-A177-3AD203B41FA5}">
                      <a16:colId xmlns:a16="http://schemas.microsoft.com/office/drawing/2014/main" val="1010810362"/>
                    </a:ext>
                  </a:extLst>
                </a:gridCol>
              </a:tblGrid>
              <a:tr h="6872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947387"/>
                  </a:ext>
                </a:extLst>
              </a:tr>
              <a:tr h="2514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3405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8711541"/>
                  </a:ext>
                </a:extLst>
              </a:tr>
              <a:tr h="2514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3405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1536352"/>
                  </a:ext>
                </a:extLst>
              </a:tr>
              <a:tr h="25144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64741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A235BD2-AA08-8803-BE77-B675EF832B75}"/>
              </a:ext>
            </a:extLst>
          </p:cNvPr>
          <p:cNvSpPr txBox="1"/>
          <p:nvPr/>
        </p:nvSpPr>
        <p:spPr>
          <a:xfrm>
            <a:off x="1939941" y="1304716"/>
            <a:ext cx="4050890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5: Confusion Matrix 2.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D9169-E5D5-B859-2AA3-7E4B4ED500E4}"/>
              </a:ext>
            </a:extLst>
          </p:cNvPr>
          <p:cNvSpPr txBox="1"/>
          <p:nvPr/>
        </p:nvSpPr>
        <p:spPr>
          <a:xfrm>
            <a:off x="1939941" y="3113577"/>
            <a:ext cx="433303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6: Accuracy Scores 2.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711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F8EA89-F98B-9248-04E6-D25673B8007F}"/>
              </a:ext>
            </a:extLst>
          </p:cNvPr>
          <p:cNvSpPr txBox="1"/>
          <p:nvPr/>
        </p:nvSpPr>
        <p:spPr>
          <a:xfrm>
            <a:off x="3220065" y="303858"/>
            <a:ext cx="4975122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E4D7EB-FBD7-5407-E6E8-A8EDB65AA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251910"/>
            <a:ext cx="5731510" cy="47167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CBA06-E75A-946F-178C-A907A79D0339}"/>
              </a:ext>
            </a:extLst>
          </p:cNvPr>
          <p:cNvSpPr txBox="1"/>
          <p:nvPr/>
        </p:nvSpPr>
        <p:spPr>
          <a:xfrm>
            <a:off x="3038168" y="6084142"/>
            <a:ext cx="5338916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Figure 10: Decision Tree Model.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4891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728F4-852E-44E5-26AA-8A388BA91855}"/>
              </a:ext>
            </a:extLst>
          </p:cNvPr>
          <p:cNvSpPr txBox="1"/>
          <p:nvPr/>
        </p:nvSpPr>
        <p:spPr>
          <a:xfrm>
            <a:off x="3018503" y="186813"/>
            <a:ext cx="4896465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EF60E-C2CD-0FCC-3BF4-F27CE6762B87}"/>
              </a:ext>
            </a:extLst>
          </p:cNvPr>
          <p:cNvSpPr txBox="1"/>
          <p:nvPr/>
        </p:nvSpPr>
        <p:spPr>
          <a:xfrm>
            <a:off x="2094269" y="1189589"/>
            <a:ext cx="10323872" cy="5668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Pruning method: NPL pruning applied to prevent overfitting.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Feature selection based on Gini Index.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Structure.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Root node:`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satisfaction_level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` (threshold: 0.42)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If 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satisfaction_level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≤ 0.42`: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Move to 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number_of_projects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` (threshold: 0.20)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Fewer projects → Higher chance of leaving (Prediction = 1.0)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If 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satisfaction_level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&gt; 0.42`: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Move to 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years_at_company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` (threshold: 0.25)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Fewer years → Likely to stay (0.0); more years → Likely to leave (1.0)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398199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9E6CE-BC89-9512-1004-8FD7D03F49A5}"/>
              </a:ext>
            </a:extLst>
          </p:cNvPr>
          <p:cNvSpPr txBox="1"/>
          <p:nvPr/>
        </p:nvSpPr>
        <p:spPr>
          <a:xfrm>
            <a:off x="1966452" y="2320413"/>
            <a:ext cx="8426245" cy="3422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Further split: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`</a:t>
            </a:r>
            <a:r>
              <a:rPr lang="en-US" sz="2400" b="1" kern="100" dirty="0" err="1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last_performance_rating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` (threshold: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0.75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Lower rating → Stay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Higher rating → Higher risk of leaving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Reveals the most important factors influencing employee turnover.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02D41-FCEA-B4C0-74A1-43056A681A1F}"/>
              </a:ext>
            </a:extLst>
          </p:cNvPr>
          <p:cNvSpPr txBox="1"/>
          <p:nvPr/>
        </p:nvSpPr>
        <p:spPr>
          <a:xfrm>
            <a:off x="3205316" y="363794"/>
            <a:ext cx="4660490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1612461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69D129-2EA8-DD8D-35A7-FC41824E79DD}"/>
              </a:ext>
            </a:extLst>
          </p:cNvPr>
          <p:cNvSpPr txBox="1"/>
          <p:nvPr/>
        </p:nvSpPr>
        <p:spPr>
          <a:xfrm>
            <a:off x="1936954" y="304800"/>
            <a:ext cx="6912078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Decision Tree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268B19-3278-7FB0-3FBD-6A1113BE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67522"/>
              </p:ext>
            </p:extLst>
          </p:nvPr>
        </p:nvGraphicFramePr>
        <p:xfrm>
          <a:off x="2517191" y="1894728"/>
          <a:ext cx="6184490" cy="11042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1268">
                  <a:extLst>
                    <a:ext uri="{9D8B030D-6E8A-4147-A177-3AD203B41FA5}">
                      <a16:colId xmlns:a16="http://schemas.microsoft.com/office/drawing/2014/main" val="3859457836"/>
                    </a:ext>
                  </a:extLst>
                </a:gridCol>
                <a:gridCol w="2061268">
                  <a:extLst>
                    <a:ext uri="{9D8B030D-6E8A-4147-A177-3AD203B41FA5}">
                      <a16:colId xmlns:a16="http://schemas.microsoft.com/office/drawing/2014/main" val="3815517509"/>
                    </a:ext>
                  </a:extLst>
                </a:gridCol>
                <a:gridCol w="2061954">
                  <a:extLst>
                    <a:ext uri="{9D8B030D-6E8A-4147-A177-3AD203B41FA5}">
                      <a16:colId xmlns:a16="http://schemas.microsoft.com/office/drawing/2014/main" val="886885746"/>
                    </a:ext>
                  </a:extLst>
                </a:gridCol>
              </a:tblGrid>
              <a:tr h="3680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7518308"/>
                  </a:ext>
                </a:extLst>
              </a:tr>
              <a:tr h="3680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955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6863880"/>
                  </a:ext>
                </a:extLst>
              </a:tr>
              <a:tr h="36808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US" sz="24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4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3307</a:t>
                      </a:r>
                      <a:endParaRPr lang="en-US" sz="24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890730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E138DCD-0237-615C-247F-AC4434751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681" y="184483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3CBF58-9012-2568-97FC-43D2966FE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92222"/>
              </p:ext>
            </p:extLst>
          </p:nvPr>
        </p:nvGraphicFramePr>
        <p:xfrm>
          <a:off x="2517191" y="3733512"/>
          <a:ext cx="9360313" cy="2847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5527">
                  <a:extLst>
                    <a:ext uri="{9D8B030D-6E8A-4147-A177-3AD203B41FA5}">
                      <a16:colId xmlns:a16="http://schemas.microsoft.com/office/drawing/2014/main" val="1460229957"/>
                    </a:ext>
                  </a:extLst>
                </a:gridCol>
                <a:gridCol w="838857">
                  <a:extLst>
                    <a:ext uri="{9D8B030D-6E8A-4147-A177-3AD203B41FA5}">
                      <a16:colId xmlns:a16="http://schemas.microsoft.com/office/drawing/2014/main" val="701041535"/>
                    </a:ext>
                  </a:extLst>
                </a:gridCol>
                <a:gridCol w="838857">
                  <a:extLst>
                    <a:ext uri="{9D8B030D-6E8A-4147-A177-3AD203B41FA5}">
                      <a16:colId xmlns:a16="http://schemas.microsoft.com/office/drawing/2014/main" val="325282917"/>
                    </a:ext>
                  </a:extLst>
                </a:gridCol>
                <a:gridCol w="905301">
                  <a:extLst>
                    <a:ext uri="{9D8B030D-6E8A-4147-A177-3AD203B41FA5}">
                      <a16:colId xmlns:a16="http://schemas.microsoft.com/office/drawing/2014/main" val="1547238782"/>
                    </a:ext>
                  </a:extLst>
                </a:gridCol>
                <a:gridCol w="905301">
                  <a:extLst>
                    <a:ext uri="{9D8B030D-6E8A-4147-A177-3AD203B41FA5}">
                      <a16:colId xmlns:a16="http://schemas.microsoft.com/office/drawing/2014/main" val="2629458994"/>
                    </a:ext>
                  </a:extLst>
                </a:gridCol>
                <a:gridCol w="662365">
                  <a:extLst>
                    <a:ext uri="{9D8B030D-6E8A-4147-A177-3AD203B41FA5}">
                      <a16:colId xmlns:a16="http://schemas.microsoft.com/office/drawing/2014/main" val="2483651493"/>
                    </a:ext>
                  </a:extLst>
                </a:gridCol>
                <a:gridCol w="868964">
                  <a:extLst>
                    <a:ext uri="{9D8B030D-6E8A-4147-A177-3AD203B41FA5}">
                      <a16:colId xmlns:a16="http://schemas.microsoft.com/office/drawing/2014/main" val="383708162"/>
                    </a:ext>
                  </a:extLst>
                </a:gridCol>
                <a:gridCol w="915682">
                  <a:extLst>
                    <a:ext uri="{9D8B030D-6E8A-4147-A177-3AD203B41FA5}">
                      <a16:colId xmlns:a16="http://schemas.microsoft.com/office/drawing/2014/main" val="4240360250"/>
                    </a:ext>
                  </a:extLst>
                </a:gridCol>
                <a:gridCol w="946829">
                  <a:extLst>
                    <a:ext uri="{9D8B030D-6E8A-4147-A177-3AD203B41FA5}">
                      <a16:colId xmlns:a16="http://schemas.microsoft.com/office/drawing/2014/main" val="3555366147"/>
                    </a:ext>
                  </a:extLst>
                </a:gridCol>
                <a:gridCol w="834704">
                  <a:extLst>
                    <a:ext uri="{9D8B030D-6E8A-4147-A177-3AD203B41FA5}">
                      <a16:colId xmlns:a16="http://schemas.microsoft.com/office/drawing/2014/main" val="1653489388"/>
                    </a:ext>
                  </a:extLst>
                </a:gridCol>
                <a:gridCol w="867926">
                  <a:extLst>
                    <a:ext uri="{9D8B030D-6E8A-4147-A177-3AD203B41FA5}">
                      <a16:colId xmlns:a16="http://schemas.microsoft.com/office/drawing/2014/main" val="182492256"/>
                    </a:ext>
                  </a:extLst>
                </a:gridCol>
              </a:tblGrid>
              <a:tr h="6375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0663695"/>
                  </a:ext>
                </a:extLst>
              </a:tr>
              <a:tr h="2332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5266041"/>
                  </a:ext>
                </a:extLst>
              </a:tr>
              <a:tr h="4753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3967499"/>
                  </a:ext>
                </a:extLst>
              </a:tr>
              <a:tr h="4753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0.947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19653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8B49D1-D767-886E-F5D5-08D59E828BE2}"/>
              </a:ext>
            </a:extLst>
          </p:cNvPr>
          <p:cNvSpPr txBox="1"/>
          <p:nvPr/>
        </p:nvSpPr>
        <p:spPr>
          <a:xfrm>
            <a:off x="2517191" y="1311042"/>
            <a:ext cx="6184490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8: confusion matrix of decision tree.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48432-2121-D7E1-3008-44BC3D35D43C}"/>
              </a:ext>
            </a:extLst>
          </p:cNvPr>
          <p:cNvSpPr txBox="1"/>
          <p:nvPr/>
        </p:nvSpPr>
        <p:spPr>
          <a:xfrm>
            <a:off x="2605681" y="3212522"/>
            <a:ext cx="4758813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9: Accuracy table.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8898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16E5-AC06-A08F-77F9-D7ECE702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49A62B-C565-3047-EC91-507894282439}"/>
              </a:ext>
            </a:extLst>
          </p:cNvPr>
          <p:cNvSpPr txBox="1"/>
          <p:nvPr/>
        </p:nvSpPr>
        <p:spPr>
          <a:xfrm>
            <a:off x="3106993" y="275303"/>
            <a:ext cx="4827639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K-Means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0D33A-4D9C-EEEA-CF29-5C6D992A7603}"/>
              </a:ext>
            </a:extLst>
          </p:cNvPr>
          <p:cNvSpPr txBox="1"/>
          <p:nvPr/>
        </p:nvSpPr>
        <p:spPr>
          <a:xfrm>
            <a:off x="1779638" y="1248696"/>
            <a:ext cx="8849033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7: Finding optimal k using Overall Silhouette Coefficients.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B73023-3F11-2B10-40DD-7B978BAD5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675525"/>
              </p:ext>
            </p:extLst>
          </p:nvPr>
        </p:nvGraphicFramePr>
        <p:xfrm>
          <a:off x="2531018" y="1886462"/>
          <a:ext cx="7129963" cy="48055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5796">
                  <a:extLst>
                    <a:ext uri="{9D8B030D-6E8A-4147-A177-3AD203B41FA5}">
                      <a16:colId xmlns:a16="http://schemas.microsoft.com/office/drawing/2014/main" val="1059045109"/>
                    </a:ext>
                  </a:extLst>
                </a:gridCol>
                <a:gridCol w="3634167">
                  <a:extLst>
                    <a:ext uri="{9D8B030D-6E8A-4147-A177-3AD203B41FA5}">
                      <a16:colId xmlns:a16="http://schemas.microsoft.com/office/drawing/2014/main" val="3513623705"/>
                    </a:ext>
                  </a:extLst>
                </a:gridCol>
              </a:tblGrid>
              <a:tr h="365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Silhouette Coefficient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3644195922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0.316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4165893172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3200" b="1" kern="100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  <a:endParaRPr lang="en-US" sz="3200" b="1" kern="100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603746360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0.428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1905700063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0.418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4165008049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2849022270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902984611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0.407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2728919964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0.398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2890612217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0.409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2751082293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3336272288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0.415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3903416507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0.416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3319066002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0.412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836758307"/>
                  </a:ext>
                </a:extLst>
              </a:tr>
              <a:tr h="2739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229" marR="59229" marT="0" marB="0"/>
                </a:tc>
                <a:extLst>
                  <a:ext uri="{0D108BD9-81ED-4DB2-BD59-A6C34878D82A}">
                    <a16:rowId xmlns:a16="http://schemas.microsoft.com/office/drawing/2014/main" val="1441415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4323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733E9-67CD-18C8-C184-7C6AC161A265}"/>
              </a:ext>
            </a:extLst>
          </p:cNvPr>
          <p:cNvSpPr txBox="1"/>
          <p:nvPr/>
        </p:nvSpPr>
        <p:spPr>
          <a:xfrm>
            <a:off x="3106993" y="275303"/>
            <a:ext cx="4827639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K-Means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F0AF5-7E03-9D33-26D9-3B2CE74B2080}"/>
              </a:ext>
            </a:extLst>
          </p:cNvPr>
          <p:cNvSpPr txBox="1"/>
          <p:nvPr/>
        </p:nvSpPr>
        <p:spPr>
          <a:xfrm>
            <a:off x="2084438" y="1582308"/>
            <a:ext cx="10304207" cy="4888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Clustering based on satisfaction level, years at company, had work accident, and salary level.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Variables selected based on the highest correlation scores.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optimal clusters number from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to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is k =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0: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1,525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samples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1: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4,381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samples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2: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4,593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samples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Centroids: (satisfaction level, years at company, had work accident, salary level)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0: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(0.612, 0.191, 1, 0.306)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1: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(0.551, 0.181, 0, 0)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Cluster 2: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(0.572, 0.194, 0, 0.58)</a:t>
            </a:r>
          </a:p>
        </p:txBody>
      </p:sp>
    </p:spTree>
    <p:extLst>
      <p:ext uri="{BB962C8B-B14F-4D97-AF65-F5344CB8AC3E}">
        <p14:creationId xmlns:p14="http://schemas.microsoft.com/office/powerpoint/2010/main" val="32794608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4175A-B4B0-54CE-F058-E3F36D19D598}"/>
              </a:ext>
            </a:extLst>
          </p:cNvPr>
          <p:cNvSpPr txBox="1"/>
          <p:nvPr/>
        </p:nvSpPr>
        <p:spPr>
          <a:xfrm>
            <a:off x="1563327" y="24818"/>
            <a:ext cx="9733937" cy="1535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Results. Cluster 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5C7EE3-BC2A-9E91-2E52-F6D02694B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151606"/>
              </p:ext>
            </p:extLst>
          </p:nvPr>
        </p:nvGraphicFramePr>
        <p:xfrm>
          <a:off x="2276349" y="2234887"/>
          <a:ext cx="6093013" cy="1082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0779">
                  <a:extLst>
                    <a:ext uri="{9D8B030D-6E8A-4147-A177-3AD203B41FA5}">
                      <a16:colId xmlns:a16="http://schemas.microsoft.com/office/drawing/2014/main" val="2513368131"/>
                    </a:ext>
                  </a:extLst>
                </a:gridCol>
                <a:gridCol w="2030779">
                  <a:extLst>
                    <a:ext uri="{9D8B030D-6E8A-4147-A177-3AD203B41FA5}">
                      <a16:colId xmlns:a16="http://schemas.microsoft.com/office/drawing/2014/main" val="1771120570"/>
                    </a:ext>
                  </a:extLst>
                </a:gridCol>
                <a:gridCol w="2031455">
                  <a:extLst>
                    <a:ext uri="{9D8B030D-6E8A-4147-A177-3AD203B41FA5}">
                      <a16:colId xmlns:a16="http://schemas.microsoft.com/office/drawing/2014/main" val="915312566"/>
                    </a:ext>
                  </a:extLst>
                </a:gridCol>
              </a:tblGrid>
              <a:tr h="3607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0570577"/>
                  </a:ext>
                </a:extLst>
              </a:tr>
              <a:tr h="3607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0661700"/>
                  </a:ext>
                </a:extLst>
              </a:tr>
              <a:tr h="36074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575638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3040FE-DB4C-FCEE-0A1F-93D7860D2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03475"/>
              </p:ext>
            </p:extLst>
          </p:nvPr>
        </p:nvGraphicFramePr>
        <p:xfrm>
          <a:off x="2276349" y="4021393"/>
          <a:ext cx="9158566" cy="2296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1951">
                  <a:extLst>
                    <a:ext uri="{9D8B030D-6E8A-4147-A177-3AD203B41FA5}">
                      <a16:colId xmlns:a16="http://schemas.microsoft.com/office/drawing/2014/main" val="839038868"/>
                    </a:ext>
                  </a:extLst>
                </a:gridCol>
                <a:gridCol w="831951">
                  <a:extLst>
                    <a:ext uri="{9D8B030D-6E8A-4147-A177-3AD203B41FA5}">
                      <a16:colId xmlns:a16="http://schemas.microsoft.com/office/drawing/2014/main" val="3620820006"/>
                    </a:ext>
                  </a:extLst>
                </a:gridCol>
                <a:gridCol w="831951">
                  <a:extLst>
                    <a:ext uri="{9D8B030D-6E8A-4147-A177-3AD203B41FA5}">
                      <a16:colId xmlns:a16="http://schemas.microsoft.com/office/drawing/2014/main" val="2667848947"/>
                    </a:ext>
                  </a:extLst>
                </a:gridCol>
                <a:gridCol w="831951">
                  <a:extLst>
                    <a:ext uri="{9D8B030D-6E8A-4147-A177-3AD203B41FA5}">
                      <a16:colId xmlns:a16="http://schemas.microsoft.com/office/drawing/2014/main" val="274821143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2364560979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2885229844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4183888151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1332824989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2528973853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1802588995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389126967"/>
                    </a:ext>
                  </a:extLst>
                </a:gridCol>
              </a:tblGrid>
              <a:tr h="6879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2107895"/>
                  </a:ext>
                </a:extLst>
              </a:tr>
              <a:tr h="3546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9188352"/>
                  </a:ext>
                </a:extLst>
              </a:tr>
              <a:tr h="3546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9273441"/>
                  </a:ext>
                </a:extLst>
              </a:tr>
              <a:tr h="3546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73347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12A81C-34AF-345F-C2AA-7C55FCAA13CE}"/>
              </a:ext>
            </a:extLst>
          </p:cNvPr>
          <p:cNvSpPr txBox="1"/>
          <p:nvPr/>
        </p:nvSpPr>
        <p:spPr>
          <a:xfrm>
            <a:off x="2276349" y="1560110"/>
            <a:ext cx="4857136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12: Confusion Table.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D39CC-526B-9015-AD1B-3BA13F352679}"/>
              </a:ext>
            </a:extLst>
          </p:cNvPr>
          <p:cNvSpPr txBox="1"/>
          <p:nvPr/>
        </p:nvSpPr>
        <p:spPr>
          <a:xfrm>
            <a:off x="2276349" y="3521897"/>
            <a:ext cx="3618271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13: Accuracy Table.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4901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7FEA2F-6A5B-83FE-8923-268D91A4AFDE}"/>
              </a:ext>
            </a:extLst>
          </p:cNvPr>
          <p:cNvSpPr txBox="1"/>
          <p:nvPr/>
        </p:nvSpPr>
        <p:spPr>
          <a:xfrm>
            <a:off x="1425677" y="147483"/>
            <a:ext cx="9783097" cy="1535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Results. Cluster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590D80-98D6-8720-A361-8CA379486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21588"/>
              </p:ext>
            </p:extLst>
          </p:nvPr>
        </p:nvGraphicFramePr>
        <p:xfrm>
          <a:off x="2222091" y="2276115"/>
          <a:ext cx="6104720" cy="946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681">
                  <a:extLst>
                    <a:ext uri="{9D8B030D-6E8A-4147-A177-3AD203B41FA5}">
                      <a16:colId xmlns:a16="http://schemas.microsoft.com/office/drawing/2014/main" val="3764738864"/>
                    </a:ext>
                  </a:extLst>
                </a:gridCol>
                <a:gridCol w="2034681">
                  <a:extLst>
                    <a:ext uri="{9D8B030D-6E8A-4147-A177-3AD203B41FA5}">
                      <a16:colId xmlns:a16="http://schemas.microsoft.com/office/drawing/2014/main" val="1516941065"/>
                    </a:ext>
                  </a:extLst>
                </a:gridCol>
                <a:gridCol w="2035358">
                  <a:extLst>
                    <a:ext uri="{9D8B030D-6E8A-4147-A177-3AD203B41FA5}">
                      <a16:colId xmlns:a16="http://schemas.microsoft.com/office/drawing/2014/main" val="26483143"/>
                    </a:ext>
                  </a:extLst>
                </a:gridCol>
              </a:tblGrid>
              <a:tr h="315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938093"/>
                  </a:ext>
                </a:extLst>
              </a:tr>
              <a:tr h="315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8400827"/>
                  </a:ext>
                </a:extLst>
              </a:tr>
              <a:tr h="31566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398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25082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412539-627B-B931-26B4-FADA61AB1B76}"/>
              </a:ext>
            </a:extLst>
          </p:cNvPr>
          <p:cNvSpPr txBox="1"/>
          <p:nvPr/>
        </p:nvSpPr>
        <p:spPr>
          <a:xfrm>
            <a:off x="2222091" y="1808967"/>
            <a:ext cx="4866968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14:  Confusion Matrix.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A81370-4254-2D58-CD58-1DF06F33D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498954"/>
              </p:ext>
            </p:extLst>
          </p:nvPr>
        </p:nvGraphicFramePr>
        <p:xfrm>
          <a:off x="2222091" y="3816444"/>
          <a:ext cx="9163666" cy="219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2414">
                  <a:extLst>
                    <a:ext uri="{9D8B030D-6E8A-4147-A177-3AD203B41FA5}">
                      <a16:colId xmlns:a16="http://schemas.microsoft.com/office/drawing/2014/main" val="3872004033"/>
                    </a:ext>
                  </a:extLst>
                </a:gridCol>
                <a:gridCol w="832414">
                  <a:extLst>
                    <a:ext uri="{9D8B030D-6E8A-4147-A177-3AD203B41FA5}">
                      <a16:colId xmlns:a16="http://schemas.microsoft.com/office/drawing/2014/main" val="2130529054"/>
                    </a:ext>
                  </a:extLst>
                </a:gridCol>
                <a:gridCol w="832414">
                  <a:extLst>
                    <a:ext uri="{9D8B030D-6E8A-4147-A177-3AD203B41FA5}">
                      <a16:colId xmlns:a16="http://schemas.microsoft.com/office/drawing/2014/main" val="3765677253"/>
                    </a:ext>
                  </a:extLst>
                </a:gridCol>
                <a:gridCol w="832414">
                  <a:extLst>
                    <a:ext uri="{9D8B030D-6E8A-4147-A177-3AD203B41FA5}">
                      <a16:colId xmlns:a16="http://schemas.microsoft.com/office/drawing/2014/main" val="2121651453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2409217393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3364548307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1264347679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2777087752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1358570303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1572165846"/>
                    </a:ext>
                  </a:extLst>
                </a:gridCol>
                <a:gridCol w="833430">
                  <a:extLst>
                    <a:ext uri="{9D8B030D-6E8A-4147-A177-3AD203B41FA5}">
                      <a16:colId xmlns:a16="http://schemas.microsoft.com/office/drawing/2014/main" val="775518278"/>
                    </a:ext>
                  </a:extLst>
                </a:gridCol>
              </a:tblGrid>
              <a:tr h="7889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8724001"/>
                  </a:ext>
                </a:extLst>
              </a:tr>
              <a:tr h="2937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694174"/>
                  </a:ext>
                </a:extLst>
              </a:tr>
              <a:tr h="2937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0.699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7666681"/>
                  </a:ext>
                </a:extLst>
              </a:tr>
              <a:tr h="2937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77171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92E6605-6A97-67B2-0660-BB7ADBF2BA0E}"/>
              </a:ext>
            </a:extLst>
          </p:cNvPr>
          <p:cNvSpPr txBox="1"/>
          <p:nvPr/>
        </p:nvSpPr>
        <p:spPr>
          <a:xfrm>
            <a:off x="2222091" y="3281415"/>
            <a:ext cx="4208206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15: Accuracy Table.</a:t>
            </a:r>
          </a:p>
        </p:txBody>
      </p:sp>
    </p:spTree>
    <p:extLst>
      <p:ext uri="{BB962C8B-B14F-4D97-AF65-F5344CB8AC3E}">
        <p14:creationId xmlns:p14="http://schemas.microsoft.com/office/powerpoint/2010/main" val="23304917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1FE7AC-2C1E-57A4-24CE-E5571CA2EF33}"/>
              </a:ext>
            </a:extLst>
          </p:cNvPr>
          <p:cNvSpPr txBox="1"/>
          <p:nvPr/>
        </p:nvSpPr>
        <p:spPr>
          <a:xfrm>
            <a:off x="1514168" y="176981"/>
            <a:ext cx="9743768" cy="1535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Results. Cluster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CFA757-715F-0DE6-4CB0-AD33920A9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84457"/>
              </p:ext>
            </p:extLst>
          </p:nvPr>
        </p:nvGraphicFramePr>
        <p:xfrm>
          <a:off x="1671484" y="2486406"/>
          <a:ext cx="6241481" cy="9172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0263">
                  <a:extLst>
                    <a:ext uri="{9D8B030D-6E8A-4147-A177-3AD203B41FA5}">
                      <a16:colId xmlns:a16="http://schemas.microsoft.com/office/drawing/2014/main" val="1361012918"/>
                    </a:ext>
                  </a:extLst>
                </a:gridCol>
                <a:gridCol w="2080263">
                  <a:extLst>
                    <a:ext uri="{9D8B030D-6E8A-4147-A177-3AD203B41FA5}">
                      <a16:colId xmlns:a16="http://schemas.microsoft.com/office/drawing/2014/main" val="3239680924"/>
                    </a:ext>
                  </a:extLst>
                </a:gridCol>
                <a:gridCol w="2080955">
                  <a:extLst>
                    <a:ext uri="{9D8B030D-6E8A-4147-A177-3AD203B41FA5}">
                      <a16:colId xmlns:a16="http://schemas.microsoft.com/office/drawing/2014/main" val="2448009822"/>
                    </a:ext>
                  </a:extLst>
                </a:gridCol>
              </a:tblGrid>
              <a:tr h="3057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8490660"/>
                  </a:ext>
                </a:extLst>
              </a:tr>
              <a:tr h="3057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7084345"/>
                  </a:ext>
                </a:extLst>
              </a:tr>
              <a:tr h="3057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1352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8776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26569B-96E5-974D-A163-032D6A3C4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257128"/>
              </p:ext>
            </p:extLst>
          </p:nvPr>
        </p:nvGraphicFramePr>
        <p:xfrm>
          <a:off x="1671484" y="4499563"/>
          <a:ext cx="10343537" cy="219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9591">
                  <a:extLst>
                    <a:ext uri="{9D8B030D-6E8A-4147-A177-3AD203B41FA5}">
                      <a16:colId xmlns:a16="http://schemas.microsoft.com/office/drawing/2014/main" val="50902091"/>
                    </a:ext>
                  </a:extLst>
                </a:gridCol>
                <a:gridCol w="939591">
                  <a:extLst>
                    <a:ext uri="{9D8B030D-6E8A-4147-A177-3AD203B41FA5}">
                      <a16:colId xmlns:a16="http://schemas.microsoft.com/office/drawing/2014/main" val="2121287481"/>
                    </a:ext>
                  </a:extLst>
                </a:gridCol>
                <a:gridCol w="939591">
                  <a:extLst>
                    <a:ext uri="{9D8B030D-6E8A-4147-A177-3AD203B41FA5}">
                      <a16:colId xmlns:a16="http://schemas.microsoft.com/office/drawing/2014/main" val="809590362"/>
                    </a:ext>
                  </a:extLst>
                </a:gridCol>
                <a:gridCol w="939591">
                  <a:extLst>
                    <a:ext uri="{9D8B030D-6E8A-4147-A177-3AD203B41FA5}">
                      <a16:colId xmlns:a16="http://schemas.microsoft.com/office/drawing/2014/main" val="1589642151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323416563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1862335803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3765744581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672881981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1603847025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1320778670"/>
                    </a:ext>
                  </a:extLst>
                </a:gridCol>
                <a:gridCol w="940739">
                  <a:extLst>
                    <a:ext uri="{9D8B030D-6E8A-4147-A177-3AD203B41FA5}">
                      <a16:colId xmlns:a16="http://schemas.microsoft.com/office/drawing/2014/main" val="1353883479"/>
                    </a:ext>
                  </a:extLst>
                </a:gridCol>
              </a:tblGrid>
              <a:tr h="6803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24607"/>
                  </a:ext>
                </a:extLst>
              </a:tr>
              <a:tr h="2489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8012776"/>
                  </a:ext>
                </a:extLst>
              </a:tr>
              <a:tr h="2489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0.484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8083314"/>
                  </a:ext>
                </a:extLst>
              </a:tr>
              <a:tr h="2489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0.788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8723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B59411-F15C-54D0-85FB-FEEF800B6943}"/>
              </a:ext>
            </a:extLst>
          </p:cNvPr>
          <p:cNvSpPr txBox="1"/>
          <p:nvPr/>
        </p:nvSpPr>
        <p:spPr>
          <a:xfrm>
            <a:off x="1671484" y="3968133"/>
            <a:ext cx="4375355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17: Accuracy Table.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DF6F3-1781-27F3-87D2-EDB2A9E47033}"/>
              </a:ext>
            </a:extLst>
          </p:cNvPr>
          <p:cNvSpPr txBox="1"/>
          <p:nvPr/>
        </p:nvSpPr>
        <p:spPr>
          <a:xfrm>
            <a:off x="1759974" y="1959361"/>
            <a:ext cx="3814916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16: Confusion Matrix.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012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9F2FA3-5203-5777-E42A-0E66634260EB}"/>
              </a:ext>
            </a:extLst>
          </p:cNvPr>
          <p:cNvSpPr txBox="1"/>
          <p:nvPr/>
        </p:nvSpPr>
        <p:spPr>
          <a:xfrm>
            <a:off x="1445342" y="186813"/>
            <a:ext cx="9438968" cy="1535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2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based on K-Means Results. Cluster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EC552-E61D-5B8E-4462-73B76EB1F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01748"/>
              </p:ext>
            </p:extLst>
          </p:nvPr>
        </p:nvGraphicFramePr>
        <p:xfrm>
          <a:off x="2569205" y="2377309"/>
          <a:ext cx="6230665" cy="1168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6658">
                  <a:extLst>
                    <a:ext uri="{9D8B030D-6E8A-4147-A177-3AD203B41FA5}">
                      <a16:colId xmlns:a16="http://schemas.microsoft.com/office/drawing/2014/main" val="3051422295"/>
                    </a:ext>
                  </a:extLst>
                </a:gridCol>
                <a:gridCol w="2076658">
                  <a:extLst>
                    <a:ext uri="{9D8B030D-6E8A-4147-A177-3AD203B41FA5}">
                      <a16:colId xmlns:a16="http://schemas.microsoft.com/office/drawing/2014/main" val="2115143290"/>
                    </a:ext>
                  </a:extLst>
                </a:gridCol>
                <a:gridCol w="2077349">
                  <a:extLst>
                    <a:ext uri="{9D8B030D-6E8A-4147-A177-3AD203B41FA5}">
                      <a16:colId xmlns:a16="http://schemas.microsoft.com/office/drawing/2014/main" val="3567773505"/>
                    </a:ext>
                  </a:extLst>
                </a:gridCol>
              </a:tblGrid>
              <a:tr h="3894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8502546"/>
                  </a:ext>
                </a:extLst>
              </a:tr>
              <a:tr h="3894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725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547535"/>
                  </a:ext>
                </a:extLst>
              </a:tr>
              <a:tr h="3894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2646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7802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0EA2EAC-91D8-2228-9DCC-06070989833A}"/>
              </a:ext>
            </a:extLst>
          </p:cNvPr>
          <p:cNvSpPr txBox="1"/>
          <p:nvPr/>
        </p:nvSpPr>
        <p:spPr>
          <a:xfrm>
            <a:off x="1391382" y="1814707"/>
            <a:ext cx="10204573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18: Confusion Matrix of Summing All Confusion Matrixes of 3 Clusters.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1428E-BBD7-576A-FDFD-AF367FAF1636}"/>
              </a:ext>
            </a:extLst>
          </p:cNvPr>
          <p:cNvSpPr txBox="1"/>
          <p:nvPr/>
        </p:nvSpPr>
        <p:spPr>
          <a:xfrm>
            <a:off x="1445342" y="3923070"/>
            <a:ext cx="10717162" cy="2498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odels were trained separately based on the 3 clusters from K-Means analysis.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Accu4acy =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(725 + 2646) / (725 + 2646 + 783 + 346)*100%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Accuracy: 74.9%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his is the lowest accuracy among all tested models.</a:t>
            </a:r>
          </a:p>
        </p:txBody>
      </p:sp>
    </p:spTree>
    <p:extLst>
      <p:ext uri="{BB962C8B-B14F-4D97-AF65-F5344CB8AC3E}">
        <p14:creationId xmlns:p14="http://schemas.microsoft.com/office/powerpoint/2010/main" val="22196608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08B7CF-A660-28CD-AF50-60807B394819}"/>
              </a:ext>
            </a:extLst>
          </p:cNvPr>
          <p:cNvSpPr txBox="1"/>
          <p:nvPr/>
        </p:nvSpPr>
        <p:spPr>
          <a:xfrm>
            <a:off x="1966452" y="314632"/>
            <a:ext cx="7177548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Neural Network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A3E7AA-6640-742A-274F-2100991BC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175110"/>
              </p:ext>
            </p:extLst>
          </p:nvPr>
        </p:nvGraphicFramePr>
        <p:xfrm>
          <a:off x="2195579" y="2116851"/>
          <a:ext cx="6333367" cy="9123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0888">
                  <a:extLst>
                    <a:ext uri="{9D8B030D-6E8A-4147-A177-3AD203B41FA5}">
                      <a16:colId xmlns:a16="http://schemas.microsoft.com/office/drawing/2014/main" val="88343195"/>
                    </a:ext>
                  </a:extLst>
                </a:gridCol>
                <a:gridCol w="2110888">
                  <a:extLst>
                    <a:ext uri="{9D8B030D-6E8A-4147-A177-3AD203B41FA5}">
                      <a16:colId xmlns:a16="http://schemas.microsoft.com/office/drawing/2014/main" val="4039210015"/>
                    </a:ext>
                  </a:extLst>
                </a:gridCol>
                <a:gridCol w="2111591">
                  <a:extLst>
                    <a:ext uri="{9D8B030D-6E8A-4147-A177-3AD203B41FA5}">
                      <a16:colId xmlns:a16="http://schemas.microsoft.com/office/drawing/2014/main" val="2469332654"/>
                    </a:ext>
                  </a:extLst>
                </a:gridCol>
              </a:tblGrid>
              <a:tr h="1702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435302"/>
                  </a:ext>
                </a:extLst>
              </a:tr>
              <a:tr h="2702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4054648"/>
                  </a:ext>
                </a:extLst>
              </a:tr>
              <a:tr h="27025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3396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50883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A1D9B5-0F0D-6871-5D8B-972A2D5BE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788042"/>
              </p:ext>
            </p:extLst>
          </p:nvPr>
        </p:nvGraphicFramePr>
        <p:xfrm>
          <a:off x="2062845" y="3665673"/>
          <a:ext cx="9842088" cy="2194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4041">
                  <a:extLst>
                    <a:ext uri="{9D8B030D-6E8A-4147-A177-3AD203B41FA5}">
                      <a16:colId xmlns:a16="http://schemas.microsoft.com/office/drawing/2014/main" val="3317930672"/>
                    </a:ext>
                  </a:extLst>
                </a:gridCol>
                <a:gridCol w="894041">
                  <a:extLst>
                    <a:ext uri="{9D8B030D-6E8A-4147-A177-3AD203B41FA5}">
                      <a16:colId xmlns:a16="http://schemas.microsoft.com/office/drawing/2014/main" val="3931156121"/>
                    </a:ext>
                  </a:extLst>
                </a:gridCol>
                <a:gridCol w="894041">
                  <a:extLst>
                    <a:ext uri="{9D8B030D-6E8A-4147-A177-3AD203B41FA5}">
                      <a16:colId xmlns:a16="http://schemas.microsoft.com/office/drawing/2014/main" val="1111120740"/>
                    </a:ext>
                  </a:extLst>
                </a:gridCol>
                <a:gridCol w="894041">
                  <a:extLst>
                    <a:ext uri="{9D8B030D-6E8A-4147-A177-3AD203B41FA5}">
                      <a16:colId xmlns:a16="http://schemas.microsoft.com/office/drawing/2014/main" val="2857141867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3613272871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2353610859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145061094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2239312817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984642777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406300821"/>
                    </a:ext>
                  </a:extLst>
                </a:gridCol>
                <a:gridCol w="895132">
                  <a:extLst>
                    <a:ext uri="{9D8B030D-6E8A-4147-A177-3AD203B41FA5}">
                      <a16:colId xmlns:a16="http://schemas.microsoft.com/office/drawing/2014/main" val="572540172"/>
                    </a:ext>
                  </a:extLst>
                </a:gridCol>
              </a:tblGrid>
              <a:tr h="67706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ID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Positives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Negatives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Negatives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F-measure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2989"/>
                  </a:ext>
                </a:extLst>
              </a:tr>
              <a:tr h="2477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0.965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0.897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3585528"/>
                  </a:ext>
                </a:extLst>
              </a:tr>
              <a:tr h="2477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3396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0.838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082025"/>
                  </a:ext>
                </a:extLst>
              </a:tr>
              <a:tr h="2477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0.954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73154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FA64A1-F06D-AC56-A045-2160B25CA585}"/>
              </a:ext>
            </a:extLst>
          </p:cNvPr>
          <p:cNvSpPr txBox="1"/>
          <p:nvPr/>
        </p:nvSpPr>
        <p:spPr>
          <a:xfrm>
            <a:off x="2195579" y="1645560"/>
            <a:ext cx="4168877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10: Confusion Matrix.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0C2FE-47EA-A3DE-2355-03FB0D759EAD}"/>
              </a:ext>
            </a:extLst>
          </p:cNvPr>
          <p:cNvSpPr txBox="1"/>
          <p:nvPr/>
        </p:nvSpPr>
        <p:spPr>
          <a:xfrm>
            <a:off x="2195579" y="3231698"/>
            <a:ext cx="4788310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11: Accuracy Table.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5948E-DE9C-1920-C64F-DA8E7972C90E}"/>
              </a:ext>
            </a:extLst>
          </p:cNvPr>
          <p:cNvSpPr txBox="1"/>
          <p:nvPr/>
        </p:nvSpPr>
        <p:spPr>
          <a:xfrm>
            <a:off x="2205411" y="5900873"/>
            <a:ext cx="4168877" cy="558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-Accuracy: 95.4%</a:t>
            </a:r>
          </a:p>
        </p:txBody>
      </p:sp>
    </p:spTree>
    <p:extLst>
      <p:ext uri="{BB962C8B-B14F-4D97-AF65-F5344CB8AC3E}">
        <p14:creationId xmlns:p14="http://schemas.microsoft.com/office/powerpoint/2010/main" val="20200764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DEEF15-B0B5-3484-ADC2-2FB0ED628308}"/>
              </a:ext>
            </a:extLst>
          </p:cNvPr>
          <p:cNvSpPr txBox="1"/>
          <p:nvPr/>
        </p:nvSpPr>
        <p:spPr>
          <a:xfrm>
            <a:off x="2349910" y="373626"/>
            <a:ext cx="59288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Models Comparison</a:t>
            </a:r>
            <a:endParaRPr lang="en-US" sz="44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9BE92D-1AD0-227F-B780-7C5599359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462062"/>
              </p:ext>
            </p:extLst>
          </p:nvPr>
        </p:nvGraphicFramePr>
        <p:xfrm>
          <a:off x="2556387" y="1912508"/>
          <a:ext cx="5515898" cy="25725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01388">
                  <a:extLst>
                    <a:ext uri="{9D8B030D-6E8A-4147-A177-3AD203B41FA5}">
                      <a16:colId xmlns:a16="http://schemas.microsoft.com/office/drawing/2014/main" val="3847218865"/>
                    </a:ext>
                  </a:extLst>
                </a:gridCol>
                <a:gridCol w="1214510">
                  <a:extLst>
                    <a:ext uri="{9D8B030D-6E8A-4147-A177-3AD203B41FA5}">
                      <a16:colId xmlns:a16="http://schemas.microsoft.com/office/drawing/2014/main" val="3250258457"/>
                    </a:ext>
                  </a:extLst>
                </a:gridCol>
              </a:tblGrid>
              <a:tr h="5150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3123103"/>
                  </a:ext>
                </a:extLst>
              </a:tr>
              <a:tr h="252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77.50%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5734784"/>
                  </a:ext>
                </a:extLst>
              </a:tr>
              <a:tr h="5150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98.20%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7672876"/>
                  </a:ext>
                </a:extLst>
              </a:tr>
              <a:tr h="252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94.70%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455754"/>
                  </a:ext>
                </a:extLst>
              </a:tr>
              <a:tr h="2527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95.40%</a:t>
                      </a:r>
                      <a:endParaRPr lang="en-US" sz="20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5521355"/>
                  </a:ext>
                </a:extLst>
              </a:tr>
              <a:tr h="5150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based on K-Means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20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74.90%</a:t>
                      </a:r>
                      <a:endParaRPr lang="en-US" sz="20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40712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D95C015-1960-12F9-9274-F791CDC54CDA}"/>
              </a:ext>
            </a:extLst>
          </p:cNvPr>
          <p:cNvSpPr txBox="1"/>
          <p:nvPr/>
        </p:nvSpPr>
        <p:spPr>
          <a:xfrm>
            <a:off x="2349910" y="1280150"/>
            <a:ext cx="7187381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19: Models’ Accuracy of the 30% testing data.</a:t>
            </a:r>
            <a:endParaRPr lang="en-US" sz="24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7A11F-CB3F-51C8-C797-0382BF02829C}"/>
              </a:ext>
            </a:extLst>
          </p:cNvPr>
          <p:cNvSpPr txBox="1"/>
          <p:nvPr/>
        </p:nvSpPr>
        <p:spPr>
          <a:xfrm>
            <a:off x="2222091" y="4647464"/>
            <a:ext cx="9635613" cy="2432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achieved the highest accuracy overall.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Neural Network also showed strong performance, being highly effective in predicting employee turnover.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Decision Tree ranked third in performance.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460102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A52CE2-458A-2095-B2F2-3AA398FA71DC}"/>
              </a:ext>
            </a:extLst>
          </p:cNvPr>
          <p:cNvSpPr txBox="1"/>
          <p:nvPr/>
        </p:nvSpPr>
        <p:spPr>
          <a:xfrm>
            <a:off x="1759974" y="2517058"/>
            <a:ext cx="9566787" cy="2820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outperformed Decision Tree because it combines multiple Decision Trees.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 (both standard and K-Means segmented) had the lowest accuracy.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Ensemble methods (like Random Forest) and deep learning (Neural Network) are more reliable for predicting employee turnover.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9FEA-A56E-ACDA-9A58-97FA77E81851}"/>
              </a:ext>
            </a:extLst>
          </p:cNvPr>
          <p:cNvSpPr txBox="1"/>
          <p:nvPr/>
        </p:nvSpPr>
        <p:spPr>
          <a:xfrm>
            <a:off x="2202426" y="806246"/>
            <a:ext cx="61844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Models Comparison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8355774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3D1FC-D751-0444-CF48-740C53A70B27}"/>
              </a:ext>
            </a:extLst>
          </p:cNvPr>
          <p:cNvSpPr txBox="1"/>
          <p:nvPr/>
        </p:nvSpPr>
        <p:spPr>
          <a:xfrm>
            <a:off x="2703871" y="108155"/>
            <a:ext cx="5417574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Models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3AFEF-D82D-32AD-0E97-40EB2A93CCCE}"/>
              </a:ext>
            </a:extLst>
          </p:cNvPr>
          <p:cNvSpPr txBox="1"/>
          <p:nvPr/>
        </p:nvSpPr>
        <p:spPr>
          <a:xfrm>
            <a:off x="1563328" y="4099369"/>
            <a:ext cx="107171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Tables </a:t>
            </a:r>
            <a:r>
              <a:rPr lang="en-US" sz="20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20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and 21 confirm that the model ranking remains the same after changing data partitioning.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continues to be the most accurate model for predicting employee turnover.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Insight: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Changing the training/testing split does not significantly impact which model performs best.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ABAD8C-3CA1-9325-83CD-F4BFCA3BB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35321"/>
              </p:ext>
            </p:extLst>
          </p:nvPr>
        </p:nvGraphicFramePr>
        <p:xfrm>
          <a:off x="1934013" y="1903262"/>
          <a:ext cx="4161987" cy="16218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710">
                  <a:extLst>
                    <a:ext uri="{9D8B030D-6E8A-4147-A177-3AD203B41FA5}">
                      <a16:colId xmlns:a16="http://schemas.microsoft.com/office/drawing/2014/main" val="2090367199"/>
                    </a:ext>
                  </a:extLst>
                </a:gridCol>
                <a:gridCol w="1070277">
                  <a:extLst>
                    <a:ext uri="{9D8B030D-6E8A-4147-A177-3AD203B41FA5}">
                      <a16:colId xmlns:a16="http://schemas.microsoft.com/office/drawing/2014/main" val="2237555591"/>
                    </a:ext>
                  </a:extLst>
                </a:gridCol>
              </a:tblGrid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7845954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76.2%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6696990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97.6%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3026565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592705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94.9%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40857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287BC3-8F31-9A7B-C107-360645F8F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623656"/>
              </p:ext>
            </p:extLst>
          </p:nvPr>
        </p:nvGraphicFramePr>
        <p:xfrm>
          <a:off x="7174072" y="1903262"/>
          <a:ext cx="4015039" cy="18647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2550">
                  <a:extLst>
                    <a:ext uri="{9D8B030D-6E8A-4147-A177-3AD203B41FA5}">
                      <a16:colId xmlns:a16="http://schemas.microsoft.com/office/drawing/2014/main" val="3193289137"/>
                    </a:ext>
                  </a:extLst>
                </a:gridCol>
                <a:gridCol w="1032489">
                  <a:extLst>
                    <a:ext uri="{9D8B030D-6E8A-4147-A177-3AD203B41FA5}">
                      <a16:colId xmlns:a16="http://schemas.microsoft.com/office/drawing/2014/main" val="423722929"/>
                    </a:ext>
                  </a:extLst>
                </a:gridCol>
              </a:tblGrid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Name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2577859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4791189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97.8%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2886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94.1%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7695180"/>
                  </a:ext>
                </a:extLst>
              </a:tr>
              <a:tr h="3243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</a:t>
                      </a:r>
                      <a:endParaRPr lang="en-US" sz="18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E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94.9%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31003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2C65F11-13DE-D494-3942-6AB36BFD6BC9}"/>
              </a:ext>
            </a:extLst>
          </p:cNvPr>
          <p:cNvSpPr txBox="1"/>
          <p:nvPr/>
        </p:nvSpPr>
        <p:spPr>
          <a:xfrm>
            <a:off x="1818968" y="1166907"/>
            <a:ext cx="4506651" cy="73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0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</a:t>
            </a:r>
            <a:r>
              <a:rPr lang="en-AE" sz="2000" b="1" kern="100" dirty="0">
                <a:ea typeface="Aptos" panose="020B0004020202020204" pitchFamily="34" charset="0"/>
                <a:cs typeface="Arial" panose="020B0604020202020204" pitchFamily="34" charset="0"/>
              </a:rPr>
              <a:t>20</a:t>
            </a:r>
            <a:r>
              <a:rPr lang="en-AE" sz="20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: Models’ Accuracy of the 40% testing data.</a:t>
            </a:r>
            <a:endParaRPr lang="en-US" sz="20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483E17-06E2-501C-1C60-65F72A1F2AF5}"/>
              </a:ext>
            </a:extLst>
          </p:cNvPr>
          <p:cNvSpPr txBox="1"/>
          <p:nvPr/>
        </p:nvSpPr>
        <p:spPr>
          <a:xfrm>
            <a:off x="7174072" y="1084136"/>
            <a:ext cx="4506651" cy="73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AE" sz="20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Table 21: Models’ Accuracy of the 20% testing data.</a:t>
            </a:r>
            <a:endParaRPr lang="en-US" sz="2000" b="1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1662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72C0B2-30AF-D0C8-3891-47F04E9C879D}"/>
              </a:ext>
            </a:extLst>
          </p:cNvPr>
          <p:cNvSpPr txBox="1"/>
          <p:nvPr/>
        </p:nvSpPr>
        <p:spPr>
          <a:xfrm>
            <a:off x="3628103" y="2340077"/>
            <a:ext cx="6646607" cy="2792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6.1 Summary of Findings.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6.2 Implications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6.3 Limitations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6.4 Future Work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6.5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2C74F6-CFBE-142D-665D-363FCEEBB182}"/>
              </a:ext>
            </a:extLst>
          </p:cNvPr>
          <p:cNvSpPr txBox="1"/>
          <p:nvPr/>
        </p:nvSpPr>
        <p:spPr>
          <a:xfrm>
            <a:off x="2566218" y="855407"/>
            <a:ext cx="6882581" cy="78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AE" sz="44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Chapter 6: Conclusion.</a:t>
            </a:r>
            <a:endParaRPr lang="en-US" sz="44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880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A2946A-F0BC-B4F4-CE0D-A98C6FFEE78B}"/>
              </a:ext>
            </a:extLst>
          </p:cNvPr>
          <p:cNvSpPr txBox="1"/>
          <p:nvPr/>
        </p:nvSpPr>
        <p:spPr>
          <a:xfrm>
            <a:off x="1700980" y="766916"/>
            <a:ext cx="8485238" cy="825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AE" sz="1800" b="1" kern="100" dirty="0">
                <a:effectLst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Summary of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53C20-9326-A311-3A5A-B9BAE2AEBCE6}"/>
              </a:ext>
            </a:extLst>
          </p:cNvPr>
          <p:cNvSpPr txBox="1"/>
          <p:nvPr/>
        </p:nvSpPr>
        <p:spPr>
          <a:xfrm>
            <a:off x="1986116" y="2300748"/>
            <a:ext cx="9478297" cy="3348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Key influencing variables identified in Exploratory Data Analysis (EDA):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 Years at company, satisfaction level, work accidents, salary level.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Visualizations (bar charts, pie charts, scatter plots) helped understand variable distributions and relationships.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Correlation analysis confirmed the importance of years </a:t>
            </a:r>
            <a:r>
              <a:rPr lang="en-US" sz="24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at company</a:t>
            </a: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and satisfaction level.</a:t>
            </a:r>
          </a:p>
        </p:txBody>
      </p:sp>
    </p:spTree>
    <p:extLst>
      <p:ext uri="{BB962C8B-B14F-4D97-AF65-F5344CB8AC3E}">
        <p14:creationId xmlns:p14="http://schemas.microsoft.com/office/powerpoint/2010/main" val="4620632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A90472-CD06-DD95-D843-A2080EE8C7B0}"/>
              </a:ext>
            </a:extLst>
          </p:cNvPr>
          <p:cNvSpPr txBox="1"/>
          <p:nvPr/>
        </p:nvSpPr>
        <p:spPr>
          <a:xfrm>
            <a:off x="2615381" y="304800"/>
            <a:ext cx="58010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Summary of Findings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42DC6-6FB1-7A57-FCCB-8245CB2544C5}"/>
              </a:ext>
            </a:extLst>
          </p:cNvPr>
          <p:cNvSpPr txBox="1"/>
          <p:nvPr/>
        </p:nvSpPr>
        <p:spPr>
          <a:xfrm>
            <a:off x="2467898" y="1671484"/>
            <a:ext cx="7462683" cy="4524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Implementation (Using KNIME):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Five machine learning models were applied and compared:</a:t>
            </a:r>
          </a:p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Logistic Regression: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Highlighted significant variables (e.g., years at company).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Accuracy:77.5% (4</a:t>
            </a:r>
            <a:r>
              <a:rPr lang="en-US" sz="2000" b="1" kern="100" baseline="30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th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best out of 5 models).</a:t>
            </a:r>
          </a:p>
          <a:p>
            <a:pPr marR="0" lvl="0">
              <a:lnSpc>
                <a:spcPct val="115000"/>
              </a:lnSpc>
            </a:pPr>
            <a:r>
              <a:rPr lang="en-US" sz="20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2.   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Best performance with 98.2% accuracy.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Captured non-linearity and interactions among features.</a:t>
            </a:r>
          </a:p>
          <a:p>
            <a:pPr marR="0" lvl="0">
              <a:lnSpc>
                <a:spcPct val="115000"/>
              </a:lnSpc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3.   Decision Tree: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Accuracy: 94.7%.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Clear, interpretable structure.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n-US" sz="2000" b="1" kern="100" baseline="30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rd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best model; pruning applied to prevent overfitting.</a:t>
            </a:r>
          </a:p>
        </p:txBody>
      </p:sp>
    </p:spTree>
    <p:extLst>
      <p:ext uri="{BB962C8B-B14F-4D97-AF65-F5344CB8AC3E}">
        <p14:creationId xmlns:p14="http://schemas.microsoft.com/office/powerpoint/2010/main" val="281390852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EF60-3F4A-B64D-B836-F793CE80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76BFDC-DE80-BFF1-75E6-F2AEBD3624F4}"/>
              </a:ext>
            </a:extLst>
          </p:cNvPr>
          <p:cNvSpPr txBox="1"/>
          <p:nvPr/>
        </p:nvSpPr>
        <p:spPr>
          <a:xfrm>
            <a:off x="2615381" y="304800"/>
            <a:ext cx="58010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Summary of Findings</a:t>
            </a:r>
            <a:endParaRPr 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17365F-CB2B-ED90-2331-4E34BC681F41}"/>
              </a:ext>
            </a:extLst>
          </p:cNvPr>
          <p:cNvSpPr txBox="1"/>
          <p:nvPr/>
        </p:nvSpPr>
        <p:spPr>
          <a:xfrm>
            <a:off x="2615381" y="1494504"/>
            <a:ext cx="8770373" cy="5052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rtl="0">
              <a:lnSpc>
                <a:spcPct val="115000"/>
              </a:lnSpc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4.   K-Means Clustering: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Optimal k = 3 clusters based on silhouette coefficient.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Identified distinct employee groups for targeted retention strategies.</a:t>
            </a:r>
          </a:p>
          <a:p>
            <a:pPr marR="0" lvl="0">
              <a:lnSpc>
                <a:spcPct val="115000"/>
              </a:lnSpc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5.   Logistic Regression Based on K-Means Clustering: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Attempted to improve logistic regression by clustering first.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Accuracy: 74.9% (worst among models).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Possible cause: mismatched 70%-30% split across clusters.</a:t>
            </a:r>
          </a:p>
          <a:p>
            <a:pPr marR="0" lvl="0">
              <a:lnSpc>
                <a:spcPct val="115000"/>
              </a:lnSpc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6.   Neural Network: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Deep learning approach.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Accuracy: 95.4% (2</a:t>
            </a:r>
            <a:r>
              <a:rPr lang="en-US" sz="2000" b="1" kern="100" baseline="300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nd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best model).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and Neural Network emerged as the most reliable models for predicting employee turnover.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574122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E967C-4CFF-9129-109E-DCE209A9E2E5}"/>
              </a:ext>
            </a:extLst>
          </p:cNvPr>
          <p:cNvSpPr txBox="1"/>
          <p:nvPr/>
        </p:nvSpPr>
        <p:spPr>
          <a:xfrm>
            <a:off x="1740310" y="462117"/>
            <a:ext cx="7285703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Implications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FF153-25A8-20D7-1DD5-93EF3BEE9431}"/>
              </a:ext>
            </a:extLst>
          </p:cNvPr>
          <p:cNvSpPr txBox="1"/>
          <p:nvPr/>
        </p:nvSpPr>
        <p:spPr>
          <a:xfrm>
            <a:off x="2654710" y="1632155"/>
            <a:ext cx="7737987" cy="5427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Targeted Retention Programs: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Focus on key drivers like low satisfaction and work-life balance.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Reduce turnover risk among high-risk employees.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Early Intervention: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Use predictive models to identify at-risk employees early.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Enable proactive outreach and targeted policy adjustments.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Data-Driven Decision-Making: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Apply machine learning insights to: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Inform HR strategies.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Optimize resource allocation.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Enhance workforce stability.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399250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9FC26-6864-D1DB-2D79-B55409C4FE65}"/>
              </a:ext>
            </a:extLst>
          </p:cNvPr>
          <p:cNvSpPr txBox="1"/>
          <p:nvPr/>
        </p:nvSpPr>
        <p:spPr>
          <a:xfrm>
            <a:off x="4257367" y="658762"/>
            <a:ext cx="3677265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74148-6A73-304E-ED45-BD4DBDD7CDED}"/>
              </a:ext>
            </a:extLst>
          </p:cNvPr>
          <p:cNvSpPr txBox="1"/>
          <p:nvPr/>
        </p:nvSpPr>
        <p:spPr>
          <a:xfrm>
            <a:off x="2133600" y="2084439"/>
            <a:ext cx="9566787" cy="5672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Feature Scope: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Analysis was limited to available dataset variables.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Unmeasured factors (e.g., personal reasons, organizational culture) may also impact turnover but were not included.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 Generalizability: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Models were trained on a specific dataset.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Accuracy may vary across different industries or organizational settings.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370276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D0926C-E66B-EDF2-811F-733F105D7865}"/>
              </a:ext>
            </a:extLst>
          </p:cNvPr>
          <p:cNvSpPr txBox="1"/>
          <p:nvPr/>
        </p:nvSpPr>
        <p:spPr>
          <a:xfrm>
            <a:off x="3264310" y="373627"/>
            <a:ext cx="4955458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0C367-2228-52FA-9362-53EA825A41F1}"/>
              </a:ext>
            </a:extLst>
          </p:cNvPr>
          <p:cNvSpPr txBox="1"/>
          <p:nvPr/>
        </p:nvSpPr>
        <p:spPr>
          <a:xfrm>
            <a:off x="2138515" y="1533834"/>
            <a:ext cx="10196051" cy="5986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Advanced Modeling Techniques: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Explore deep learning and more ensemble methods to boost predictive accuracy.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Expanded Feature Sets: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Incorporate new variables like: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Employee feedback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Performance scores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External labor market factors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Longitudinal Analysis: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Study turnover trends over time to better support long-term retention strategies.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Real-Time Forecasting Systems: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Build automated, real-time monitoring systems for continuous HR decision-making.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92977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2C170F-870F-4EDB-C07E-7FB615ABA1E6}"/>
              </a:ext>
            </a:extLst>
          </p:cNvPr>
          <p:cNvSpPr txBox="1"/>
          <p:nvPr/>
        </p:nvSpPr>
        <p:spPr>
          <a:xfrm>
            <a:off x="2694039" y="344129"/>
            <a:ext cx="5486400" cy="83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44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2041C-AD49-58C6-8896-A9EA2444C7B5}"/>
              </a:ext>
            </a:extLst>
          </p:cNvPr>
          <p:cNvSpPr txBox="1"/>
          <p:nvPr/>
        </p:nvSpPr>
        <p:spPr>
          <a:xfrm>
            <a:off x="2241754" y="1290039"/>
            <a:ext cx="9950246" cy="4934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Successful Application: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Machine learning models were effectively used to analyze and predict employee turnover.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Identified Top Performing Models: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Random Forest and Neural Network models achieved the highest accuracy respectively.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Practical Impact: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Results can help organizations in </a:t>
            </a:r>
            <a:r>
              <a:rPr lang="en-US" sz="20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esigning targeted retention strategies and </a:t>
            </a:r>
            <a:r>
              <a:rPr lang="en-US" sz="2000" b="1" kern="100" dirty="0"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romoting workforce stability.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Future Opportunities:</a:t>
            </a:r>
          </a:p>
          <a:p>
            <a:pPr marL="342900" marR="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Future research can build on these </a:t>
            </a:r>
            <a:r>
              <a:rPr lang="en-US" sz="2000" b="1" kern="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findings by</a:t>
            </a:r>
            <a:r>
              <a:rPr lang="en-US" sz="2000" b="1" kern="100">
                <a:ea typeface="Times New Roman" panose="02020603050405020304" pitchFamily="18" charset="0"/>
                <a:cs typeface="Arial" panose="020B0604020202020204" pitchFamily="34" charset="0"/>
              </a:rPr>
              <a:t> a</a:t>
            </a:r>
            <a:r>
              <a:rPr lang="en-US" sz="2000" b="1" kern="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dding more features and </a:t>
            </a:r>
            <a:r>
              <a:rPr lang="en-US" sz="2000" b="1" kern="100"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n-US" sz="2000" b="1" kern="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pplying </a:t>
            </a:r>
            <a:r>
              <a:rPr lang="en-US" sz="2000" b="1" kern="10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advanced modeling techniques for even better predictions.</a:t>
            </a:r>
          </a:p>
        </p:txBody>
      </p:sp>
    </p:spTree>
    <p:extLst>
      <p:ext uri="{BB962C8B-B14F-4D97-AF65-F5344CB8AC3E}">
        <p14:creationId xmlns:p14="http://schemas.microsoft.com/office/powerpoint/2010/main" val="15608191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A208-99B3-1778-3721-24169C109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764458"/>
            <a:ext cx="10018713" cy="1752599"/>
          </a:xfrm>
        </p:spPr>
        <p:txBody>
          <a:bodyPr/>
          <a:lstStyle/>
          <a:p>
            <a:r>
              <a:rPr lang="en-AE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References</a:t>
            </a:r>
            <a:br>
              <a:rPr lang="en-US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B130-0901-A8CA-C1AD-E3E22176A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781" y="1640757"/>
            <a:ext cx="10018713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latin typeface="+mj-lt"/>
              </a:rPr>
              <a:t>The references is provided in the research paper.</a:t>
            </a:r>
          </a:p>
        </p:txBody>
      </p:sp>
    </p:spTree>
    <p:extLst>
      <p:ext uri="{BB962C8B-B14F-4D97-AF65-F5344CB8AC3E}">
        <p14:creationId xmlns:p14="http://schemas.microsoft.com/office/powerpoint/2010/main" val="3603735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5EFFA8-32C0-272A-C9E3-F1526D3B2004}"/>
              </a:ext>
            </a:extLst>
          </p:cNvPr>
          <p:cNvSpPr/>
          <p:nvPr/>
        </p:nvSpPr>
        <p:spPr>
          <a:xfrm>
            <a:off x="2265786" y="2711695"/>
            <a:ext cx="731083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Baguet Script" panose="020F05020202040302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773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853</TotalTime>
  <Words>6355</Words>
  <Application>Microsoft Office PowerPoint</Application>
  <PresentationFormat>Widescreen</PresentationFormat>
  <Paragraphs>1193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Aptos</vt:lpstr>
      <vt:lpstr>Arial</vt:lpstr>
      <vt:lpstr>Baguet Script</vt:lpstr>
      <vt:lpstr>Corbel</vt:lpstr>
      <vt:lpstr>Segoe UI</vt:lpstr>
      <vt:lpstr>Times New Roman</vt:lpstr>
      <vt:lpstr>Wingdings</vt:lpstr>
      <vt:lpstr>Parallax</vt:lpstr>
      <vt:lpstr>Capstone Project </vt:lpstr>
      <vt:lpstr>Contents</vt:lpstr>
      <vt:lpstr>Chapter 1: Introduction. </vt:lpstr>
      <vt:lpstr>Overview of Employee Turnover  and Retention</vt:lpstr>
      <vt:lpstr>Terminology and Types of Employee Turnover</vt:lpstr>
      <vt:lpstr>Why Reduce Employee Turnover Rates?</vt:lpstr>
      <vt:lpstr>Problem Statement and Objectives</vt:lpstr>
      <vt:lpstr>Chapter 2: Literature Review. </vt:lpstr>
      <vt:lpstr>Factors Influencing Employee Turnover</vt:lpstr>
      <vt:lpstr>Factors Influencing Employee Turnover</vt:lpstr>
      <vt:lpstr>Effective Strategies To Reduce Employee Turnover Rstio</vt:lpstr>
      <vt:lpstr>Reducing Employee Turnover </vt:lpstr>
      <vt:lpstr>Strategies to Reduce Turnover</vt:lpstr>
      <vt:lpstr>Employee Engagement  &amp; Job Embeddedness </vt:lpstr>
      <vt:lpstr>Enhancement of Job Satisfaction  &amp; Retention </vt:lpstr>
      <vt:lpstr>Challenges and Recommendations</vt:lpstr>
      <vt:lpstr>Techniques Used in Employee  Turnover Prediction</vt:lpstr>
      <vt:lpstr>Techniques Used in Employee  Turnover Prediction</vt:lpstr>
      <vt:lpstr>Areas of Improvement in Employee Turnover Research</vt:lpstr>
      <vt:lpstr>Chapter 3: About Data and Data exploration. </vt:lpstr>
      <vt:lpstr>Introduction For Dataset</vt:lpstr>
      <vt:lpstr>About Dataset Variables</vt:lpstr>
      <vt:lpstr>About Dataset Variables</vt:lpstr>
      <vt:lpstr>About Dataset Variables</vt:lpstr>
      <vt:lpstr>Summary Statistics of Dataset</vt:lpstr>
      <vt:lpstr>Summary Statistics of Dataset</vt:lpstr>
      <vt:lpstr>Summary Statistics of Dataset</vt:lpstr>
      <vt:lpstr>Summary Statistics of Dataset</vt:lpstr>
      <vt:lpstr>Summary Statistics of Dataset</vt:lpstr>
      <vt:lpstr>Summary Statistics of Dataset</vt:lpstr>
      <vt:lpstr>Employee Salary Distribution</vt:lpstr>
      <vt:lpstr>Department-wise Employee Turnover</vt:lpstr>
      <vt:lpstr>Missing Data</vt:lpstr>
      <vt:lpstr>Correlation Matrix</vt:lpstr>
      <vt:lpstr>Correlations with "Has Left Company"</vt:lpstr>
      <vt:lpstr>Chapter 4: Methodology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Shakir AlFaiadh</dc:creator>
  <cp:lastModifiedBy>Omar Shakir AlFaiadh</cp:lastModifiedBy>
  <cp:revision>54</cp:revision>
  <dcterms:created xsi:type="dcterms:W3CDTF">2024-12-15T15:31:02Z</dcterms:created>
  <dcterms:modified xsi:type="dcterms:W3CDTF">2025-05-02T05:00:12Z</dcterms:modified>
</cp:coreProperties>
</file>